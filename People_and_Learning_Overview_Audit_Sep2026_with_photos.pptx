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81" r:id="rId5"/>
    <p:sldMasterId id="2147483692" r:id="rId6"/>
  </p:sldMasterIdLst>
  <p:notesMasterIdLst>
    <p:notesMasterId r:id="rId16"/>
  </p:notesMasterIdLst>
  <p:sldIdLst>
    <p:sldId id="257" r:id="rId7"/>
    <p:sldId id="304" r:id="rId14"/>
    <p:sldId id="309" r:id="rId24"/>
    <p:sldId id="308" r:id="rId23"/>
    <p:sldId id="310" r:id="rId25"/>
    <p:sldId id="311" r:id="rId26"/>
    <p:sldId id="312" r:id="rId27"/>
    <p:sldId id="29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008000"/>
    <a:srgbClr val="1E2771"/>
    <a:srgbClr val="FFFFFF"/>
    <a:srgbClr val="03B5E5"/>
    <a:srgbClr val="F57833"/>
    <a:srgbClr val="E26D38"/>
    <a:srgbClr val="2A7DBF"/>
    <a:srgbClr val="1BB0E1"/>
    <a:srgbClr val="EB91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8-11T13:28:16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/>
    <p:restoredTop sz="88707"/>
  </p:normalViewPr>
  <p:slideViewPr>
    <p:cSldViewPr snapToGrid="0">
      <p:cViewPr varScale="1">
        <p:scale>
          <a:sx n="70" d="100"/>
          <a:sy n="70" d="100"/>
        </p:scale>
        <p:origin x="824" y="48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8.xml"/><Relationship Id="rId22" Type="http://schemas.microsoft.com/office/2015/10/relationships/revisionInfo" Target="revisionInfo.xml"/>  <Relationship Id="rId23" Type="http://schemas.openxmlformats.org/officeDocument/2006/relationships/slide" Target="slides/slide10.xml"/>
  <Relationship Id="rId24" Type="http://schemas.openxmlformats.org/officeDocument/2006/relationships/slide" Target="slides/slide11.xml"/>
  <Relationship Id="rId25" Type="http://schemas.openxmlformats.org/officeDocument/2006/relationships/slide" Target="slides/slide12.xml"/>
  <Relationship Id="rId26" Type="http://schemas.openxmlformats.org/officeDocument/2006/relationships/slide" Target="slides/slide13.xml"/>
  <Relationship Id="rId27" Type="http://schemas.openxmlformats.org/officeDocument/2006/relationships/slide" Target="slides/slide14.xml"/>
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2D53-D527-A84F-BC03-6E03AF9A09AD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D4FD-2431-E648-822F-215F0D15D5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0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image" Target="../media/image34.emf"/><Relationship Id="rId5" Type="http://schemas.openxmlformats.org/officeDocument/2006/relationships/tags" Target="../tags/tag4.xml"/><Relationship Id="rId10" Type="http://schemas.openxmlformats.org/officeDocument/2006/relationships/oleObject" Target="../embeddings/oleObject1.bin"/><Relationship Id="rId4" Type="http://schemas.openxmlformats.org/officeDocument/2006/relationships/tags" Target="../tags/tag3.xml"/><Relationship Id="rId9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tags" Target="../tags/tag12.xml"/><Relationship Id="rId11" Type="http://schemas.openxmlformats.org/officeDocument/2006/relationships/image" Target="../media/image34.emf"/><Relationship Id="rId5" Type="http://schemas.openxmlformats.org/officeDocument/2006/relationships/tags" Target="../tags/tag11.xml"/><Relationship Id="rId10" Type="http://schemas.openxmlformats.org/officeDocument/2006/relationships/oleObject" Target="../embeddings/oleObject2.bin"/><Relationship Id="rId4" Type="http://schemas.openxmlformats.org/officeDocument/2006/relationships/tags" Target="../tags/tag10.xml"/><Relationship Id="rId9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34.emf"/><Relationship Id="rId2" Type="http://schemas.openxmlformats.org/officeDocument/2006/relationships/tags" Target="../tags/tag15.xml"/><Relationship Id="rId1" Type="http://schemas.openxmlformats.org/officeDocument/2006/relationships/vmlDrawing" Target="../drawings/vmlDrawing3.vml"/><Relationship Id="rId6" Type="http://schemas.openxmlformats.org/officeDocument/2006/relationships/tags" Target="../tags/tag19.xml"/><Relationship Id="rId11" Type="http://schemas.openxmlformats.org/officeDocument/2006/relationships/oleObject" Target="../embeddings/oleObject3.bin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A6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400C70-EE6F-8367-0BD1-953E88546A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blue and orange circle&#10;&#10;Description automatically generated">
            <a:extLst>
              <a:ext uri="{FF2B5EF4-FFF2-40B4-BE49-F238E27FC236}">
                <a16:creationId xmlns:a16="http://schemas.microsoft.com/office/drawing/2014/main" id="{BDF905C5-D19B-9CB1-2135-FD5BECF2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421" r="27018"/>
          <a:stretch/>
        </p:blipFill>
        <p:spPr>
          <a:xfrm rot="-1980000" flipV="1">
            <a:off x="5960036" y="-739046"/>
            <a:ext cx="7742364" cy="8336090"/>
          </a:xfrm>
          <a:custGeom>
            <a:avLst/>
            <a:gdLst>
              <a:gd name="connsiteX0" fmla="*/ 3762603 w 7742364"/>
              <a:gd name="connsiteY0" fmla="*/ 8336090 h 8336090"/>
              <a:gd name="connsiteX1" fmla="*/ 7742364 w 7742364"/>
              <a:gd name="connsiteY1" fmla="*/ 5751603 h 8336090"/>
              <a:gd name="connsiteX2" fmla="*/ 4007229 w 7742364"/>
              <a:gd name="connsiteY2" fmla="*/ 0 h 8336090"/>
              <a:gd name="connsiteX3" fmla="*/ 0 w 7742364"/>
              <a:gd name="connsiteY3" fmla="*/ 2602325 h 8336090"/>
              <a:gd name="connsiteX4" fmla="*/ 0 w 7742364"/>
              <a:gd name="connsiteY4" fmla="*/ 6223984 h 8336090"/>
              <a:gd name="connsiteX5" fmla="*/ 1371618 w 7742364"/>
              <a:gd name="connsiteY5" fmla="*/ 8336090 h 8336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42364" h="8336090">
                <a:moveTo>
                  <a:pt x="3762603" y="8336090"/>
                </a:moveTo>
                <a:lnTo>
                  <a:pt x="7742364" y="5751603"/>
                </a:lnTo>
                <a:lnTo>
                  <a:pt x="4007229" y="0"/>
                </a:lnTo>
                <a:lnTo>
                  <a:pt x="0" y="2602325"/>
                </a:lnTo>
                <a:lnTo>
                  <a:pt x="0" y="6223984"/>
                </a:lnTo>
                <a:lnTo>
                  <a:pt x="1371618" y="8336090"/>
                </a:lnTo>
                <a:close/>
              </a:path>
            </a:pathLst>
          </a:custGeom>
        </p:spPr>
      </p:pic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854ED26-8A02-4C5C-64C3-EAAEDF45C2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186" y="2558206"/>
            <a:ext cx="6289913" cy="1188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Presentation title </a:t>
            </a:r>
            <a:br>
              <a:rPr lang="en-GB" dirty="0"/>
            </a:br>
            <a:r>
              <a:rPr lang="en-GB" dirty="0"/>
              <a:t>goes here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ABEB90E6-0416-9486-F0AF-F55E5105EE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188" y="4020391"/>
            <a:ext cx="6289914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Presentation subtitle goes here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FB0929-6DE6-3B5F-6D21-A59E5753D8DF}"/>
              </a:ext>
            </a:extLst>
          </p:cNvPr>
          <p:cNvSpPr txBox="1"/>
          <p:nvPr userDrawn="1"/>
        </p:nvSpPr>
        <p:spPr>
          <a:xfrm>
            <a:off x="814316" y="6009210"/>
            <a:ext cx="6135652" cy="278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</a:t>
            </a:r>
            <a:r>
              <a:rPr lang="en-GB" b="1" dirty="0">
                <a:solidFill>
                  <a:schemeClr val="accent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Innovation. </a:t>
            </a:r>
            <a:r>
              <a:rPr lang="en-GB" b="1" dirty="0"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Life.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B2AA90-F070-FEDD-E916-54C9835EC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1574" y="735331"/>
            <a:ext cx="2832256" cy="1267522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0086ACD-8B0F-E329-A17A-E93A863182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7188" y="5002426"/>
            <a:ext cx="6289914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Prepared for [CLIENT] 01.01.2024</a:t>
            </a:r>
          </a:p>
        </p:txBody>
      </p:sp>
    </p:spTree>
    <p:extLst>
      <p:ext uri="{BB962C8B-B14F-4D97-AF65-F5344CB8AC3E}">
        <p14:creationId xmlns:p14="http://schemas.microsoft.com/office/powerpoint/2010/main" val="66668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A6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400C70-EE6F-8367-0BD1-953E88546A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blue and orange circle&#10;&#10;Description automatically generated">
            <a:extLst>
              <a:ext uri="{FF2B5EF4-FFF2-40B4-BE49-F238E27FC236}">
                <a16:creationId xmlns:a16="http://schemas.microsoft.com/office/drawing/2014/main" id="{BDF905C5-D19B-9CB1-2135-FD5BECF2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421" r="27018"/>
          <a:stretch/>
        </p:blipFill>
        <p:spPr>
          <a:xfrm rot="-1980000" flipV="1">
            <a:off x="5960036" y="-739046"/>
            <a:ext cx="7742364" cy="8336090"/>
          </a:xfrm>
          <a:custGeom>
            <a:avLst/>
            <a:gdLst>
              <a:gd name="connsiteX0" fmla="*/ 3762603 w 7742364"/>
              <a:gd name="connsiteY0" fmla="*/ 8336090 h 8336090"/>
              <a:gd name="connsiteX1" fmla="*/ 7742364 w 7742364"/>
              <a:gd name="connsiteY1" fmla="*/ 5751603 h 8336090"/>
              <a:gd name="connsiteX2" fmla="*/ 4007229 w 7742364"/>
              <a:gd name="connsiteY2" fmla="*/ 0 h 8336090"/>
              <a:gd name="connsiteX3" fmla="*/ 0 w 7742364"/>
              <a:gd name="connsiteY3" fmla="*/ 2602325 h 8336090"/>
              <a:gd name="connsiteX4" fmla="*/ 0 w 7742364"/>
              <a:gd name="connsiteY4" fmla="*/ 6223984 h 8336090"/>
              <a:gd name="connsiteX5" fmla="*/ 1371618 w 7742364"/>
              <a:gd name="connsiteY5" fmla="*/ 8336090 h 8336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42364" h="8336090">
                <a:moveTo>
                  <a:pt x="3762603" y="8336090"/>
                </a:moveTo>
                <a:lnTo>
                  <a:pt x="7742364" y="5751603"/>
                </a:lnTo>
                <a:lnTo>
                  <a:pt x="4007229" y="0"/>
                </a:lnTo>
                <a:lnTo>
                  <a:pt x="0" y="2602325"/>
                </a:lnTo>
                <a:lnTo>
                  <a:pt x="0" y="6223984"/>
                </a:lnTo>
                <a:lnTo>
                  <a:pt x="1371618" y="8336090"/>
                </a:lnTo>
                <a:close/>
              </a:path>
            </a:pathLst>
          </a:custGeom>
        </p:spPr>
      </p:pic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854ED26-8A02-4C5C-64C3-EAAEDF45C2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186" y="2558206"/>
            <a:ext cx="6289913" cy="1188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Presentation title </a:t>
            </a:r>
            <a:br>
              <a:rPr lang="en-GB" dirty="0"/>
            </a:br>
            <a:r>
              <a:rPr lang="en-GB" dirty="0"/>
              <a:t>goes here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ABEB90E6-0416-9486-F0AF-F55E5105EE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188" y="4020391"/>
            <a:ext cx="6289914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Presentation subtitle goes here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FB0929-6DE6-3B5F-6D21-A59E5753D8DF}"/>
              </a:ext>
            </a:extLst>
          </p:cNvPr>
          <p:cNvSpPr txBox="1"/>
          <p:nvPr userDrawn="1"/>
        </p:nvSpPr>
        <p:spPr>
          <a:xfrm>
            <a:off x="814316" y="6009210"/>
            <a:ext cx="6135652" cy="278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</a:t>
            </a:r>
            <a:r>
              <a:rPr lang="en-GB" b="1" dirty="0">
                <a:solidFill>
                  <a:schemeClr val="accent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Innovation. </a:t>
            </a:r>
            <a:r>
              <a:rPr lang="en-GB" b="1" dirty="0"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Life.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0086ACD-8B0F-E329-A17A-E93A863182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7188" y="5002426"/>
            <a:ext cx="6289914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Prepared for [CLIENT] 01.01.2024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1F640-88BA-E675-DE3F-7DE37F7711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2482" y="723912"/>
            <a:ext cx="2891338" cy="129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1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 with shap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C1AADC-08C4-1E35-106B-10A0080073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73" r="15440" b="32872"/>
          <a:stretch/>
        </p:blipFill>
        <p:spPr>
          <a:xfrm rot="-4620000">
            <a:off x="5385170" y="22183"/>
            <a:ext cx="8028803" cy="6937529"/>
          </a:xfrm>
          <a:custGeom>
            <a:avLst/>
            <a:gdLst>
              <a:gd name="connsiteX0" fmla="*/ 6783312 w 8028803"/>
              <a:gd name="connsiteY0" fmla="*/ 0 h 6937529"/>
              <a:gd name="connsiteX1" fmla="*/ 8028803 w 8028803"/>
              <a:gd name="connsiteY1" fmla="*/ 5394815 h 6937529"/>
              <a:gd name="connsiteX2" fmla="*/ 1346573 w 8028803"/>
              <a:gd name="connsiteY2" fmla="*/ 6937529 h 6937529"/>
              <a:gd name="connsiteX3" fmla="*/ 0 w 8028803"/>
              <a:gd name="connsiteY3" fmla="*/ 1104880 h 6937529"/>
              <a:gd name="connsiteX4" fmla="*/ 4785762 w 8028803"/>
              <a:gd name="connsiteY4" fmla="*/ 0 h 6937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8803" h="6937529">
                <a:moveTo>
                  <a:pt x="6783312" y="0"/>
                </a:moveTo>
                <a:lnTo>
                  <a:pt x="8028803" y="5394815"/>
                </a:lnTo>
                <a:lnTo>
                  <a:pt x="1346573" y="6937529"/>
                </a:lnTo>
                <a:lnTo>
                  <a:pt x="0" y="1104880"/>
                </a:lnTo>
                <a:lnTo>
                  <a:pt x="4785762" y="0"/>
                </a:lnTo>
                <a:close/>
              </a:path>
            </a:pathLst>
          </a:custGeom>
        </p:spPr>
      </p:pic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C2D46AA0-EBEA-21B9-39F7-52112917C4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186" y="1546387"/>
            <a:ext cx="6289913" cy="1771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800" b="1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73697E8-55C0-20E0-9D3F-FDCFB4832C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188" y="3562044"/>
            <a:ext cx="5358812" cy="1197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Subsection title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B3767-AAE5-7B4B-F376-8FA10F92C70C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208D50-1E69-F7FA-7BB7-9DB4A73B31C5}"/>
              </a:ext>
            </a:extLst>
          </p:cNvPr>
          <p:cNvSpPr/>
          <p:nvPr userDrawn="1"/>
        </p:nvSpPr>
        <p:spPr>
          <a:xfrm>
            <a:off x="1" y="5760842"/>
            <a:ext cx="2017986" cy="1097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DFDBF-785F-B7D2-6420-6243761E24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4391D4-5FA9-A3D2-9032-99D815B8FF91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296904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layout with shap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globe&#10;&#10;Description automatically generated with medium confidence">
            <a:extLst>
              <a:ext uri="{FF2B5EF4-FFF2-40B4-BE49-F238E27FC236}">
                <a16:creationId xmlns:a16="http://schemas.microsoft.com/office/drawing/2014/main" id="{354B30D5-FC93-4942-8235-C0FDDA25B1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425" y="5851525"/>
            <a:ext cx="1620136" cy="7857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C1AADC-08C4-1E35-106B-10A0080073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73" r="15440" b="32872"/>
          <a:stretch/>
        </p:blipFill>
        <p:spPr>
          <a:xfrm rot="-4620000">
            <a:off x="5385170" y="22183"/>
            <a:ext cx="8028803" cy="6937529"/>
          </a:xfrm>
          <a:custGeom>
            <a:avLst/>
            <a:gdLst>
              <a:gd name="connsiteX0" fmla="*/ 6783312 w 8028803"/>
              <a:gd name="connsiteY0" fmla="*/ 0 h 6937529"/>
              <a:gd name="connsiteX1" fmla="*/ 8028803 w 8028803"/>
              <a:gd name="connsiteY1" fmla="*/ 5394815 h 6937529"/>
              <a:gd name="connsiteX2" fmla="*/ 1346573 w 8028803"/>
              <a:gd name="connsiteY2" fmla="*/ 6937529 h 6937529"/>
              <a:gd name="connsiteX3" fmla="*/ 0 w 8028803"/>
              <a:gd name="connsiteY3" fmla="*/ 1104880 h 6937529"/>
              <a:gd name="connsiteX4" fmla="*/ 4785762 w 8028803"/>
              <a:gd name="connsiteY4" fmla="*/ 0 h 6937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8803" h="6937529">
                <a:moveTo>
                  <a:pt x="6783312" y="0"/>
                </a:moveTo>
                <a:lnTo>
                  <a:pt x="8028803" y="5394815"/>
                </a:lnTo>
                <a:lnTo>
                  <a:pt x="1346573" y="6937529"/>
                </a:lnTo>
                <a:lnTo>
                  <a:pt x="0" y="1104880"/>
                </a:lnTo>
                <a:lnTo>
                  <a:pt x="4785762" y="0"/>
                </a:lnTo>
                <a:close/>
              </a:path>
            </a:pathLst>
          </a:cu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3A4964-024F-46BE-CDE6-1189089D30F5}"/>
              </a:ext>
            </a:extLst>
          </p:cNvPr>
          <p:cNvSpPr/>
          <p:nvPr userDrawn="1"/>
        </p:nvSpPr>
        <p:spPr>
          <a:xfrm>
            <a:off x="0" y="5519057"/>
            <a:ext cx="2623457" cy="13389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7325DE-275D-4431-AF05-9E82156012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186" y="1546387"/>
            <a:ext cx="6289913" cy="1771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847390-4D3A-575F-2021-4AEC429D0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188" y="3562044"/>
            <a:ext cx="5358812" cy="1197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Subsection title goes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88F82-B47B-95A2-9F1F-AB89A122A8D2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50924-D76B-F73D-D902-72764FD2D7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B98C92-0C13-7B40-160F-7C1A1F760BF2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8517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 with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C1AADC-08C4-1E35-106B-10A0080073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73" r="15440" b="32872"/>
          <a:stretch/>
        </p:blipFill>
        <p:spPr>
          <a:xfrm rot="-4620000">
            <a:off x="5397870" y="9482"/>
            <a:ext cx="8028803" cy="6937529"/>
          </a:xfrm>
          <a:custGeom>
            <a:avLst/>
            <a:gdLst>
              <a:gd name="connsiteX0" fmla="*/ 6783312 w 8028803"/>
              <a:gd name="connsiteY0" fmla="*/ 0 h 6937529"/>
              <a:gd name="connsiteX1" fmla="*/ 8028803 w 8028803"/>
              <a:gd name="connsiteY1" fmla="*/ 5394815 h 6937529"/>
              <a:gd name="connsiteX2" fmla="*/ 1346573 w 8028803"/>
              <a:gd name="connsiteY2" fmla="*/ 6937529 h 6937529"/>
              <a:gd name="connsiteX3" fmla="*/ 0 w 8028803"/>
              <a:gd name="connsiteY3" fmla="*/ 1104880 h 6937529"/>
              <a:gd name="connsiteX4" fmla="*/ 4785762 w 8028803"/>
              <a:gd name="connsiteY4" fmla="*/ 0 h 6937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8803" h="6937529">
                <a:moveTo>
                  <a:pt x="6783312" y="0"/>
                </a:moveTo>
                <a:lnTo>
                  <a:pt x="8028803" y="5394815"/>
                </a:lnTo>
                <a:lnTo>
                  <a:pt x="1346573" y="6937529"/>
                </a:lnTo>
                <a:lnTo>
                  <a:pt x="0" y="1104880"/>
                </a:lnTo>
                <a:lnTo>
                  <a:pt x="4785762" y="0"/>
                </a:lnTo>
                <a:close/>
              </a:path>
            </a:pathLst>
          </a:custGeo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5B2ADAC-D365-70AA-1F52-217F9C5588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186" y="1546387"/>
            <a:ext cx="6289913" cy="1771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800" b="1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03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3F5606-ED74-1DA1-CCA8-9D3E2CD628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188" y="3562044"/>
            <a:ext cx="5358812" cy="1197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Subsection title goes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91ED3-51C4-E1F8-8CE5-FF6E5575495B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2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looking through a microscope&#10;&#10;Description automatically generated">
            <a:extLst>
              <a:ext uri="{FF2B5EF4-FFF2-40B4-BE49-F238E27FC236}">
                <a16:creationId xmlns:a16="http://schemas.microsoft.com/office/drawing/2014/main" id="{9230BD3B-9FCB-9CC6-729F-C5D8BA781C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94" b="4559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362B323-C0DF-B23B-408A-8AE119742CCA}"/>
              </a:ext>
            </a:extLst>
          </p:cNvPr>
          <p:cNvSpPr/>
          <p:nvPr userDrawn="1"/>
        </p:nvSpPr>
        <p:spPr>
          <a:xfrm>
            <a:off x="0" y="0"/>
            <a:ext cx="12200815" cy="6858000"/>
          </a:xfrm>
          <a:prstGeom prst="rect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56907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D8EE3-B744-DE53-5B99-7141D006E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10800000">
            <a:off x="8716441" y="2276444"/>
            <a:ext cx="3471151" cy="4581556"/>
          </a:xfrm>
          <a:prstGeom prst="rect">
            <a:avLst/>
          </a:prstGeo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126AA8F-3A05-444E-ACC4-DA07547E9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539BF17E-9BC0-791E-9992-C45CFECFED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2FE58-7676-6E0C-3B52-598EC3A1A8F5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81EA4-9702-3402-4B06-8BE9C4FEF8A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F86983-4225-C140-60D8-561ECBF2C74E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319817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 layout with shap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BCD0B-EEE0-0B84-E901-6E3651AA23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649" r="29151" b="955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D26D2C-102A-8746-7189-5683E265136B}"/>
              </a:ext>
            </a:extLst>
          </p:cNvPr>
          <p:cNvSpPr/>
          <p:nvPr userDrawn="1"/>
        </p:nvSpPr>
        <p:spPr>
          <a:xfrm rot="10800000">
            <a:off x="0" y="-1"/>
            <a:ext cx="12200815" cy="6858000"/>
          </a:xfrm>
          <a:prstGeom prst="rect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56907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C1AADC-08C4-1E35-106B-10A0080073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73" r="15440" b="32872"/>
          <a:stretch/>
        </p:blipFill>
        <p:spPr>
          <a:xfrm rot="-4620000">
            <a:off x="5385170" y="22183"/>
            <a:ext cx="8028803" cy="6937529"/>
          </a:xfrm>
          <a:custGeom>
            <a:avLst/>
            <a:gdLst>
              <a:gd name="connsiteX0" fmla="*/ 6783312 w 8028803"/>
              <a:gd name="connsiteY0" fmla="*/ 0 h 6937529"/>
              <a:gd name="connsiteX1" fmla="*/ 8028803 w 8028803"/>
              <a:gd name="connsiteY1" fmla="*/ 5394815 h 6937529"/>
              <a:gd name="connsiteX2" fmla="*/ 1346573 w 8028803"/>
              <a:gd name="connsiteY2" fmla="*/ 6937529 h 6937529"/>
              <a:gd name="connsiteX3" fmla="*/ 0 w 8028803"/>
              <a:gd name="connsiteY3" fmla="*/ 1104880 h 6937529"/>
              <a:gd name="connsiteX4" fmla="*/ 4785762 w 8028803"/>
              <a:gd name="connsiteY4" fmla="*/ 0 h 6937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8803" h="6937529">
                <a:moveTo>
                  <a:pt x="6783312" y="0"/>
                </a:moveTo>
                <a:lnTo>
                  <a:pt x="8028803" y="5394815"/>
                </a:lnTo>
                <a:lnTo>
                  <a:pt x="1346573" y="6937529"/>
                </a:lnTo>
                <a:lnTo>
                  <a:pt x="0" y="1104880"/>
                </a:lnTo>
                <a:lnTo>
                  <a:pt x="4785762" y="0"/>
                </a:ln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3B3767-AAE5-7B4B-F376-8FA10F92C70C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3A5694B-4FFD-068C-090B-FC699383F9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276B8EB3-D103-4482-39F0-33FC3DEB35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7405F-1205-E1C1-0C43-7176ED8FF6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6BD06C-E95F-4E03-7FF0-B4D2B60CC8C7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379981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few women looking through a microscope&#10;&#10;Description automatically generated">
            <a:extLst>
              <a:ext uri="{FF2B5EF4-FFF2-40B4-BE49-F238E27FC236}">
                <a16:creationId xmlns:a16="http://schemas.microsoft.com/office/drawing/2014/main" id="{4BC67AAC-1AD6-8773-FE50-152DFE20C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74" t="11759" r="19031" b="11745"/>
          <a:stretch/>
        </p:blipFill>
        <p:spPr>
          <a:xfrm>
            <a:off x="2204" y="0"/>
            <a:ext cx="12189795" cy="68592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7FF610-3B56-9D10-A7FD-5BB065787FED}"/>
              </a:ext>
            </a:extLst>
          </p:cNvPr>
          <p:cNvSpPr/>
          <p:nvPr userDrawn="1"/>
        </p:nvSpPr>
        <p:spPr>
          <a:xfrm>
            <a:off x="-4407" y="0"/>
            <a:ext cx="12191999" cy="6858000"/>
          </a:xfrm>
          <a:prstGeom prst="rect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56907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1EE4C8-25B6-82B4-E372-D0671BE91B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175"/>
          <a:stretch/>
        </p:blipFill>
        <p:spPr>
          <a:xfrm rot="11090471">
            <a:off x="3405143" y="-256395"/>
            <a:ext cx="5904370" cy="4063658"/>
          </a:xfrm>
          <a:custGeom>
            <a:avLst/>
            <a:gdLst>
              <a:gd name="connsiteX0" fmla="*/ 5904370 w 5904370"/>
              <a:gd name="connsiteY0" fmla="*/ 3563580 h 4063658"/>
              <a:gd name="connsiteX1" fmla="*/ 0 w 5904370"/>
              <a:gd name="connsiteY1" fmla="*/ 4063658 h 4063658"/>
              <a:gd name="connsiteX2" fmla="*/ 0 w 5904370"/>
              <a:gd name="connsiteY2" fmla="*/ 0 h 4063658"/>
              <a:gd name="connsiteX3" fmla="*/ 5904370 w 5904370"/>
              <a:gd name="connsiteY3" fmla="*/ 0 h 406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4370" h="4063658">
                <a:moveTo>
                  <a:pt x="5904370" y="3563580"/>
                </a:moveTo>
                <a:lnTo>
                  <a:pt x="0" y="4063658"/>
                </a:lnTo>
                <a:lnTo>
                  <a:pt x="0" y="0"/>
                </a:lnTo>
                <a:lnTo>
                  <a:pt x="5904370" y="0"/>
                </a:ln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D6CEA3-3BF7-0093-EFC0-996CC59298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2593" y="1887816"/>
            <a:ext cx="4295152" cy="5669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3088EB-77A9-583B-6A2D-D660839D658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882" b="27414"/>
          <a:stretch/>
        </p:blipFill>
        <p:spPr>
          <a:xfrm rot="11090471">
            <a:off x="9614761" y="-77462"/>
            <a:ext cx="2829026" cy="5847325"/>
          </a:xfrm>
          <a:custGeom>
            <a:avLst/>
            <a:gdLst>
              <a:gd name="connsiteX0" fmla="*/ 2829026 w 2829026"/>
              <a:gd name="connsiteY0" fmla="*/ 5649663 h 5847325"/>
              <a:gd name="connsiteX1" fmla="*/ 495246 w 2829026"/>
              <a:gd name="connsiteY1" fmla="*/ 5847325 h 5847325"/>
              <a:gd name="connsiteX2" fmla="*/ 0 w 2829026"/>
              <a:gd name="connsiteY2" fmla="*/ 0 h 5847325"/>
              <a:gd name="connsiteX3" fmla="*/ 2540847 w 2829026"/>
              <a:gd name="connsiteY3" fmla="*/ 0 h 5847325"/>
              <a:gd name="connsiteX4" fmla="*/ 2829026 w 2829026"/>
              <a:gd name="connsiteY4" fmla="*/ 3402495 h 584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9026" h="5847325">
                <a:moveTo>
                  <a:pt x="2829026" y="5649663"/>
                </a:moveTo>
                <a:lnTo>
                  <a:pt x="495246" y="5847325"/>
                </a:lnTo>
                <a:lnTo>
                  <a:pt x="0" y="0"/>
                </a:lnTo>
                <a:lnTo>
                  <a:pt x="2540847" y="0"/>
                </a:lnTo>
                <a:lnTo>
                  <a:pt x="2829026" y="3402495"/>
                </a:lnTo>
                <a:close/>
              </a:path>
            </a:pathLst>
          </a:cu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4856B368-A457-358D-BCE4-1AC56EADB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473438-684D-B856-0271-208AEAB72C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ED03C-9027-6084-ECC0-00E520EB64E3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E81F2-EC14-79D9-EED3-6E586C55B1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0BD743-1B2B-B7F8-B72C-3D9A5307A110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155403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BD8EE3-B744-DE53-5B99-7141D006E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5400000">
            <a:off x="8159160" y="-555202"/>
            <a:ext cx="3471151" cy="4581556"/>
          </a:xfrm>
          <a:prstGeom prst="rect">
            <a:avLst/>
          </a:prstGeo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126AA8F-3A05-444E-ACC4-DA07547E9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539BF17E-9BC0-791E-9992-C45CFECFED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2FE58-7676-6E0C-3B52-598EC3A1A8F5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7A08F-6365-DE05-C427-F2D280E4DBA5}"/>
              </a:ext>
            </a:extLst>
          </p:cNvPr>
          <p:cNvSpPr/>
          <p:nvPr userDrawn="1"/>
        </p:nvSpPr>
        <p:spPr>
          <a:xfrm>
            <a:off x="1" y="5760842"/>
            <a:ext cx="2017986" cy="1097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AF313-642E-FFA3-0505-9B0DD1ADBD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02BFAC-5C4A-D351-AA13-B3BCC2B73728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14940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BD8EE3-B744-DE53-5B99-7141D006E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5400000">
            <a:off x="8159160" y="-555202"/>
            <a:ext cx="3471151" cy="45815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A43140-84F3-0659-4CD6-32FB3721373A}"/>
              </a:ext>
            </a:extLst>
          </p:cNvPr>
          <p:cNvSpPr/>
          <p:nvPr userDrawn="1"/>
        </p:nvSpPr>
        <p:spPr>
          <a:xfrm>
            <a:off x="1" y="5783283"/>
            <a:ext cx="2137558" cy="1074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843EC780-312A-40F9-E550-DE6374308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B3A400D-880E-E7AF-E4C9-5BEF12190DA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DAE4F-0B53-C1E8-EFDE-E375485ACF3F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DE967-4E35-979E-56EF-D7335EA8FF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AF0E43-DE07-F19D-AFD1-84D11E222D63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89943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BD8EE3-B744-DE53-5B99-7141D006E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5400000">
            <a:off x="8159160" y="-555202"/>
            <a:ext cx="3471151" cy="4581556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943BECD-A2D9-45D2-75FC-313705D167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5DEF4038-4AA1-4C06-7F8C-4041E5115F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AA92A-781D-9E93-8006-A6CAE59B8B96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7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1EE4C8-25B6-82B4-E372-D0671BE91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175"/>
          <a:stretch/>
        </p:blipFill>
        <p:spPr>
          <a:xfrm rot="11090471">
            <a:off x="3405143" y="-256395"/>
            <a:ext cx="5904370" cy="4063658"/>
          </a:xfrm>
          <a:custGeom>
            <a:avLst/>
            <a:gdLst>
              <a:gd name="connsiteX0" fmla="*/ 5904370 w 5904370"/>
              <a:gd name="connsiteY0" fmla="*/ 3563580 h 4063658"/>
              <a:gd name="connsiteX1" fmla="*/ 0 w 5904370"/>
              <a:gd name="connsiteY1" fmla="*/ 4063658 h 4063658"/>
              <a:gd name="connsiteX2" fmla="*/ 0 w 5904370"/>
              <a:gd name="connsiteY2" fmla="*/ 0 h 4063658"/>
              <a:gd name="connsiteX3" fmla="*/ 5904370 w 5904370"/>
              <a:gd name="connsiteY3" fmla="*/ 0 h 406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4370" h="4063658">
                <a:moveTo>
                  <a:pt x="5904370" y="3563580"/>
                </a:moveTo>
                <a:lnTo>
                  <a:pt x="0" y="4063658"/>
                </a:lnTo>
                <a:lnTo>
                  <a:pt x="0" y="0"/>
                </a:lnTo>
                <a:lnTo>
                  <a:pt x="5904370" y="0"/>
                </a:ln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D6CEA3-3BF7-0093-EFC0-996CC59298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7000" y="1875848"/>
            <a:ext cx="4295152" cy="5669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3088EB-77A9-583B-6A2D-D660839D65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882" b="27414"/>
          <a:stretch/>
        </p:blipFill>
        <p:spPr>
          <a:xfrm rot="11090471">
            <a:off x="9614761" y="-77462"/>
            <a:ext cx="2829026" cy="5847325"/>
          </a:xfrm>
          <a:custGeom>
            <a:avLst/>
            <a:gdLst>
              <a:gd name="connsiteX0" fmla="*/ 2829026 w 2829026"/>
              <a:gd name="connsiteY0" fmla="*/ 5649663 h 5847325"/>
              <a:gd name="connsiteX1" fmla="*/ 495246 w 2829026"/>
              <a:gd name="connsiteY1" fmla="*/ 5847325 h 5847325"/>
              <a:gd name="connsiteX2" fmla="*/ 0 w 2829026"/>
              <a:gd name="connsiteY2" fmla="*/ 0 h 5847325"/>
              <a:gd name="connsiteX3" fmla="*/ 2540847 w 2829026"/>
              <a:gd name="connsiteY3" fmla="*/ 0 h 5847325"/>
              <a:gd name="connsiteX4" fmla="*/ 2829026 w 2829026"/>
              <a:gd name="connsiteY4" fmla="*/ 3402495 h 584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9026" h="5847325">
                <a:moveTo>
                  <a:pt x="2829026" y="5649663"/>
                </a:moveTo>
                <a:lnTo>
                  <a:pt x="495246" y="5847325"/>
                </a:lnTo>
                <a:lnTo>
                  <a:pt x="0" y="0"/>
                </a:lnTo>
                <a:lnTo>
                  <a:pt x="2540847" y="0"/>
                </a:lnTo>
                <a:lnTo>
                  <a:pt x="2829026" y="3402495"/>
                </a:lnTo>
                <a:close/>
              </a:path>
            </a:pathLst>
          </a:cu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4856B368-A457-358D-BCE4-1AC56EADB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473438-684D-B856-0271-208AEAB72C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ED03C-9027-6084-ECC0-00E520EB64E3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1E90C3-10CA-B670-6772-40689A449009}"/>
              </a:ext>
            </a:extLst>
          </p:cNvPr>
          <p:cNvSpPr/>
          <p:nvPr userDrawn="1"/>
        </p:nvSpPr>
        <p:spPr>
          <a:xfrm>
            <a:off x="1" y="5760842"/>
            <a:ext cx="2017986" cy="1097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E78210-0C82-9E80-049D-2C8647E88B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0928FA-B94B-5C9F-468A-57780102DF38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3980934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A43140-84F3-0659-4CD6-32FB3721373A}"/>
              </a:ext>
            </a:extLst>
          </p:cNvPr>
          <p:cNvSpPr/>
          <p:nvPr userDrawn="1"/>
        </p:nvSpPr>
        <p:spPr>
          <a:xfrm>
            <a:off x="1" y="5783283"/>
            <a:ext cx="2137558" cy="1074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10E8B-ECED-A252-E578-89EB9B38BF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175"/>
          <a:stretch/>
        </p:blipFill>
        <p:spPr>
          <a:xfrm rot="11090471">
            <a:off x="3405143" y="-256395"/>
            <a:ext cx="5904370" cy="4063658"/>
          </a:xfrm>
          <a:custGeom>
            <a:avLst/>
            <a:gdLst>
              <a:gd name="connsiteX0" fmla="*/ 5904370 w 5904370"/>
              <a:gd name="connsiteY0" fmla="*/ 3563580 h 4063658"/>
              <a:gd name="connsiteX1" fmla="*/ 0 w 5904370"/>
              <a:gd name="connsiteY1" fmla="*/ 4063658 h 4063658"/>
              <a:gd name="connsiteX2" fmla="*/ 0 w 5904370"/>
              <a:gd name="connsiteY2" fmla="*/ 0 h 4063658"/>
              <a:gd name="connsiteX3" fmla="*/ 5904370 w 5904370"/>
              <a:gd name="connsiteY3" fmla="*/ 0 h 406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4370" h="4063658">
                <a:moveTo>
                  <a:pt x="5904370" y="3563580"/>
                </a:moveTo>
                <a:lnTo>
                  <a:pt x="0" y="4063658"/>
                </a:lnTo>
                <a:lnTo>
                  <a:pt x="0" y="0"/>
                </a:lnTo>
                <a:lnTo>
                  <a:pt x="5904370" y="0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85486A-96F6-C018-B00D-99E20A53C8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6999" y="1875848"/>
            <a:ext cx="4295152" cy="5669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C9DAA3-D87C-0A7F-1AB5-6BA78115A2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882" b="27414"/>
          <a:stretch/>
        </p:blipFill>
        <p:spPr>
          <a:xfrm rot="11090471">
            <a:off x="9614761" y="-77462"/>
            <a:ext cx="2829026" cy="5847325"/>
          </a:xfrm>
          <a:custGeom>
            <a:avLst/>
            <a:gdLst>
              <a:gd name="connsiteX0" fmla="*/ 2829026 w 2829026"/>
              <a:gd name="connsiteY0" fmla="*/ 5649663 h 5847325"/>
              <a:gd name="connsiteX1" fmla="*/ 495246 w 2829026"/>
              <a:gd name="connsiteY1" fmla="*/ 5847325 h 5847325"/>
              <a:gd name="connsiteX2" fmla="*/ 0 w 2829026"/>
              <a:gd name="connsiteY2" fmla="*/ 0 h 5847325"/>
              <a:gd name="connsiteX3" fmla="*/ 2540847 w 2829026"/>
              <a:gd name="connsiteY3" fmla="*/ 0 h 5847325"/>
              <a:gd name="connsiteX4" fmla="*/ 2829026 w 2829026"/>
              <a:gd name="connsiteY4" fmla="*/ 3402495 h 584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9026" h="5847325">
                <a:moveTo>
                  <a:pt x="2829026" y="5649663"/>
                </a:moveTo>
                <a:lnTo>
                  <a:pt x="495246" y="5847325"/>
                </a:lnTo>
                <a:lnTo>
                  <a:pt x="0" y="0"/>
                </a:lnTo>
                <a:lnTo>
                  <a:pt x="2540847" y="0"/>
                </a:lnTo>
                <a:lnTo>
                  <a:pt x="2829026" y="3402495"/>
                </a:lnTo>
                <a:close/>
              </a:path>
            </a:pathLst>
          </a:cu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B378EF6-1ABD-6C12-E261-C84411DF59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DBEB4F6-7A7C-CDAE-4A86-ABD80AC4110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8CA858-CCE6-F8DC-940A-6D5D25A20F54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E1BDF-3160-B340-782F-338DEFCF00A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F1C076-7065-561D-629A-6759B21063B3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1716043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A466B4-B645-8DF5-88B9-BD2EC430F3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175"/>
          <a:stretch/>
        </p:blipFill>
        <p:spPr>
          <a:xfrm rot="11090471">
            <a:off x="3405143" y="-256395"/>
            <a:ext cx="5904370" cy="4063658"/>
          </a:xfrm>
          <a:custGeom>
            <a:avLst/>
            <a:gdLst>
              <a:gd name="connsiteX0" fmla="*/ 5904370 w 5904370"/>
              <a:gd name="connsiteY0" fmla="*/ 3563580 h 4063658"/>
              <a:gd name="connsiteX1" fmla="*/ 0 w 5904370"/>
              <a:gd name="connsiteY1" fmla="*/ 4063658 h 4063658"/>
              <a:gd name="connsiteX2" fmla="*/ 0 w 5904370"/>
              <a:gd name="connsiteY2" fmla="*/ 0 h 4063658"/>
              <a:gd name="connsiteX3" fmla="*/ 5904370 w 5904370"/>
              <a:gd name="connsiteY3" fmla="*/ 0 h 406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4370" h="4063658">
                <a:moveTo>
                  <a:pt x="5904370" y="3563580"/>
                </a:moveTo>
                <a:lnTo>
                  <a:pt x="0" y="4063658"/>
                </a:lnTo>
                <a:lnTo>
                  <a:pt x="0" y="0"/>
                </a:lnTo>
                <a:lnTo>
                  <a:pt x="5904370" y="0"/>
                </a:ln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92638D-5229-D3B8-DF29-1E4E1C6A3C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7000" y="1875848"/>
            <a:ext cx="4295152" cy="5669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C87717-448C-1D86-12A2-ABCB115420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882" b="27414"/>
          <a:stretch/>
        </p:blipFill>
        <p:spPr>
          <a:xfrm rot="11090471">
            <a:off x="9614761" y="-77462"/>
            <a:ext cx="2829026" cy="5847325"/>
          </a:xfrm>
          <a:custGeom>
            <a:avLst/>
            <a:gdLst>
              <a:gd name="connsiteX0" fmla="*/ 2829026 w 2829026"/>
              <a:gd name="connsiteY0" fmla="*/ 5649663 h 5847325"/>
              <a:gd name="connsiteX1" fmla="*/ 495246 w 2829026"/>
              <a:gd name="connsiteY1" fmla="*/ 5847325 h 5847325"/>
              <a:gd name="connsiteX2" fmla="*/ 0 w 2829026"/>
              <a:gd name="connsiteY2" fmla="*/ 0 h 5847325"/>
              <a:gd name="connsiteX3" fmla="*/ 2540847 w 2829026"/>
              <a:gd name="connsiteY3" fmla="*/ 0 h 5847325"/>
              <a:gd name="connsiteX4" fmla="*/ 2829026 w 2829026"/>
              <a:gd name="connsiteY4" fmla="*/ 3402495 h 584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9026" h="5847325">
                <a:moveTo>
                  <a:pt x="2829026" y="5649663"/>
                </a:moveTo>
                <a:lnTo>
                  <a:pt x="495246" y="5847325"/>
                </a:lnTo>
                <a:lnTo>
                  <a:pt x="0" y="0"/>
                </a:lnTo>
                <a:lnTo>
                  <a:pt x="2540847" y="0"/>
                </a:lnTo>
                <a:lnTo>
                  <a:pt x="2829026" y="3402495"/>
                </a:lnTo>
                <a:close/>
              </a:path>
            </a:pathLst>
          </a:custGeo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3209FF9-87B1-D48B-9546-BB6169E8F9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2299" y="577948"/>
            <a:ext cx="11014410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47301A80-836D-36E8-F6FE-D7C29296B8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" y="1327150"/>
            <a:ext cx="11014379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3142F3-AEAC-EA0B-FFD6-FB19A986520B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95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D2CE0352-E144-DA6B-C692-E92F2F9F8F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5138057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83E6B3B-B4D0-D300-8825-18FEC2475C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513805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B4FCD-12B1-A20E-C837-F0F5707FEE2B}"/>
              </a:ext>
            </a:extLst>
          </p:cNvPr>
          <p:cNvSpPr/>
          <p:nvPr userDrawn="1"/>
        </p:nvSpPr>
        <p:spPr>
          <a:xfrm>
            <a:off x="1" y="5760842"/>
            <a:ext cx="2017986" cy="1097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0CF085-404B-E5C8-BE62-09C60191D7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110FC8-7A0A-DFE5-DFBF-E9C799F222C9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1940706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076E1E-F476-80FF-80AD-FA1DD72B339D}"/>
              </a:ext>
            </a:extLst>
          </p:cNvPr>
          <p:cNvSpPr/>
          <p:nvPr userDrawn="1"/>
        </p:nvSpPr>
        <p:spPr>
          <a:xfrm>
            <a:off x="0" y="5605153"/>
            <a:ext cx="2256312" cy="1252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2E8CEF6-CC45-74A4-969C-45EB5FBA36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5138057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2E3D977D-6015-2C46-8B5D-BB181601188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513805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42056E-F610-8B15-EE4D-5696BA17F8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2C98A7-5EB3-D312-82AF-7182C266B4F1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2773292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5D341EF-18BF-69D1-6885-15F9800AB9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5138057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6B482A85-9ED5-320D-5A72-004CB43C2F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513805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522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 layout with shap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globe&#10;&#10;Description automatically generated with medium confidence">
            <a:extLst>
              <a:ext uri="{FF2B5EF4-FFF2-40B4-BE49-F238E27FC236}">
                <a16:creationId xmlns:a16="http://schemas.microsoft.com/office/drawing/2014/main" id="{354B30D5-FC93-4942-8235-C0FDDA25B1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425" y="5851525"/>
            <a:ext cx="1620136" cy="78576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30C059-BE49-EBDF-F5C6-55A2F9063C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577948"/>
            <a:ext cx="4312954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16193B7-DF67-85A6-8568-7ABC398DE8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4312954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1CFBD-BCE9-9B9F-D694-FF3239E1CED5}"/>
              </a:ext>
            </a:extLst>
          </p:cNvPr>
          <p:cNvSpPr/>
          <p:nvPr userDrawn="1"/>
        </p:nvSpPr>
        <p:spPr>
          <a:xfrm>
            <a:off x="1" y="5760842"/>
            <a:ext cx="2017986" cy="1097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BA83D-C354-9D0D-10BA-380C5E07B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241C9F-EEB3-9F82-B9A6-B3F3B4C4ADA3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4221162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 layout with shap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globe&#10;&#10;Description automatically generated with medium confidence">
            <a:extLst>
              <a:ext uri="{FF2B5EF4-FFF2-40B4-BE49-F238E27FC236}">
                <a16:creationId xmlns:a16="http://schemas.microsoft.com/office/drawing/2014/main" id="{354B30D5-FC93-4942-8235-C0FDDA25B1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425" y="5851525"/>
            <a:ext cx="1620136" cy="78576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3A4964-024F-46BE-CDE6-1189089D30F5}"/>
              </a:ext>
            </a:extLst>
          </p:cNvPr>
          <p:cNvSpPr/>
          <p:nvPr userDrawn="1"/>
        </p:nvSpPr>
        <p:spPr>
          <a:xfrm>
            <a:off x="0" y="5519057"/>
            <a:ext cx="2623457" cy="13389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AC217F50-B0DC-4FBE-37B9-EB42AC018B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577948"/>
            <a:ext cx="4312954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F2628026-3B33-98DB-728C-4E4EDE30F0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4312954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1A15D-E175-D5B4-00A0-DEA190741F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075F76-DF56-4785-E7F7-5D6BC0935748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23060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 layout with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06B4F3A-7E68-746B-F19C-7772416C67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577948"/>
            <a:ext cx="4312954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B9ED9851-232B-F37D-E8B4-78FA178670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4312954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65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AAEE10-4AB7-D2B5-4174-23631578B5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091884F-3AED-6A4F-F169-4D50624BB7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87693" y="577948"/>
            <a:ext cx="3811618" cy="4643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FF3F1B47-3430-D614-9BB7-924E49195DE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879045" y="1496034"/>
            <a:ext cx="3811618" cy="4319696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A9E3DF-5422-4780-0CA9-62BF4A51FB9C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1C98D-4F96-705D-A490-14B55A3CE0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A99D77-F315-B4CA-EA9D-C91C48C9EDE7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20563509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A43140-84F3-0659-4CD6-32FB3721373A}"/>
              </a:ext>
            </a:extLst>
          </p:cNvPr>
          <p:cNvSpPr/>
          <p:nvPr userDrawn="1"/>
        </p:nvSpPr>
        <p:spPr>
          <a:xfrm>
            <a:off x="1" y="5783283"/>
            <a:ext cx="2137558" cy="1074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977DC3C-B3C5-BC91-410B-67D3F6F293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87693" y="577948"/>
            <a:ext cx="3811618" cy="4643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C3362337-B5B2-575F-C25C-B8AD059E2DA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879045" y="1496034"/>
            <a:ext cx="3811618" cy="4319696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7B3155-C1C6-B2C7-47AF-012ACC5F85E0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F078B9-5C32-8CFD-517A-5EE101532F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346A0C-8EEA-3EFB-DED1-6B7D4CE3F8FC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1323425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FAED685-28F4-0504-91FF-1EBA594C82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87693" y="577948"/>
            <a:ext cx="3811618" cy="5493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B853F065-01A6-E0F3-8C4B-7B96986F3F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879045" y="1496034"/>
            <a:ext cx="3811618" cy="4319696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5A2FD-97D5-F289-6FD0-EEB0E4482762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199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6D7C33-61AF-4112-83F0-61B6511794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7001" y="1875848"/>
            <a:ext cx="4295152" cy="56691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B408EC-F863-CD7C-1519-388893BB5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10800000">
            <a:off x="9410582" y="3186820"/>
            <a:ext cx="2781418" cy="367118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ECC5A12-58AD-1C62-085D-08E63ADF6D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7143837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A5DF9F35-A9B9-842A-8736-CAB60E11321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714383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263CE6-AFCC-B96F-9FCA-105FCA7956D5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AF82FF-E902-8CDE-CEC0-D41C068507B0}"/>
              </a:ext>
            </a:extLst>
          </p:cNvPr>
          <p:cNvSpPr/>
          <p:nvPr userDrawn="1"/>
        </p:nvSpPr>
        <p:spPr>
          <a:xfrm>
            <a:off x="1" y="5760842"/>
            <a:ext cx="2017986" cy="1097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5A384-AC9C-BA07-BDD3-2E5E4386F6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04AA4C-D404-36B2-7847-F57768BE942D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27657754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6D7C33-61AF-4112-83F0-61B6511794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7001" y="1875848"/>
            <a:ext cx="4295152" cy="56691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B408EC-F863-CD7C-1519-388893BB5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10800000">
            <a:off x="9410582" y="3186820"/>
            <a:ext cx="2781418" cy="36711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4EE80C-AB73-44A5-76BA-96A7A428D8FD}"/>
              </a:ext>
            </a:extLst>
          </p:cNvPr>
          <p:cNvSpPr/>
          <p:nvPr userDrawn="1"/>
        </p:nvSpPr>
        <p:spPr>
          <a:xfrm>
            <a:off x="1" y="5783283"/>
            <a:ext cx="2137558" cy="1074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1827BD-11F2-061B-0038-474BFF2D78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7143837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5C7BF70-61D5-7416-031C-2CC8B4FA36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714383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59CDA3-889D-AE01-9AE7-F1A83D6999A5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6C363-37EF-5E52-2285-2E4BF440C0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5808A1-A3FB-7866-B0A3-3E87E569C8D8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37236045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6D7C33-61AF-4112-83F0-61B6511794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7001" y="1875848"/>
            <a:ext cx="4295152" cy="56691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B408EC-F863-CD7C-1519-388893BB5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10800000">
            <a:off x="9410581" y="3186820"/>
            <a:ext cx="2781418" cy="3671180"/>
          </a:xfrm>
          <a:prstGeom prst="rect">
            <a:avLst/>
          </a:prstGeo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1DAC584-BC59-003D-640A-7249CC986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7143837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24F7F70-B2E5-D861-217C-AEB09C44683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714383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D6EA2-F22A-A12C-2438-16FE218F25F0}"/>
              </a:ext>
            </a:extLst>
          </p:cNvPr>
          <p:cNvSpPr txBox="1"/>
          <p:nvPr userDrawn="1"/>
        </p:nvSpPr>
        <p:spPr>
          <a:xfrm>
            <a:off x="9544833" y="6163170"/>
            <a:ext cx="2294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EF510E9-DDB4-5B4F-A3A0-152BD0507604}" type="slidenum">
              <a:rPr lang="en-US" sz="1200" b="1" smtClean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‹#›</a:t>
            </a:fld>
            <a:endParaRPr lang="en-US" sz="1200" b="1" dirty="0">
              <a:solidFill>
                <a:schemeClr val="accent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3506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layout with shap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globe&#10;&#10;Description automatically generated with medium confidence">
            <a:extLst>
              <a:ext uri="{FF2B5EF4-FFF2-40B4-BE49-F238E27FC236}">
                <a16:creationId xmlns:a16="http://schemas.microsoft.com/office/drawing/2014/main" id="{354B30D5-FC93-4942-8235-C0FDDA25B1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425" y="5851525"/>
            <a:ext cx="1620136" cy="7857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0E7485-367B-4735-F4DE-B928E0127FE6}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10509530">
            <a:off x="6588236" y="-1983613"/>
            <a:ext cx="5904370" cy="5904370"/>
          </a:xfrm>
          <a:custGeom>
            <a:avLst/>
            <a:gdLst>
              <a:gd name="connsiteX0" fmla="*/ 5904370 w 5904370"/>
              <a:gd name="connsiteY0" fmla="*/ 3658049 h 5904370"/>
              <a:gd name="connsiteX1" fmla="*/ 0 w 5904370"/>
              <a:gd name="connsiteY1" fmla="*/ 4158125 h 5904370"/>
              <a:gd name="connsiteX2" fmla="*/ 0 w 5904370"/>
              <a:gd name="connsiteY2" fmla="*/ 0 h 5904370"/>
              <a:gd name="connsiteX3" fmla="*/ 5904370 w 5904370"/>
              <a:gd name="connsiteY3" fmla="*/ 0 h 5904370"/>
              <a:gd name="connsiteX4" fmla="*/ 5904370 w 5904370"/>
              <a:gd name="connsiteY4" fmla="*/ 5904370 h 5904370"/>
              <a:gd name="connsiteX5" fmla="*/ 3282743 w 5904370"/>
              <a:gd name="connsiteY5" fmla="*/ 5904370 h 5904370"/>
              <a:gd name="connsiteX6" fmla="*/ 5904370 w 5904370"/>
              <a:gd name="connsiteY6" fmla="*/ 5682329 h 590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04370" h="5904370">
                <a:moveTo>
                  <a:pt x="5904370" y="3658049"/>
                </a:moveTo>
                <a:lnTo>
                  <a:pt x="0" y="4158125"/>
                </a:lnTo>
                <a:lnTo>
                  <a:pt x="0" y="0"/>
                </a:lnTo>
                <a:lnTo>
                  <a:pt x="5904370" y="0"/>
                </a:lnTo>
                <a:close/>
                <a:moveTo>
                  <a:pt x="5904370" y="5904370"/>
                </a:moveTo>
                <a:lnTo>
                  <a:pt x="3282743" y="5904370"/>
                </a:lnTo>
                <a:lnTo>
                  <a:pt x="5904370" y="568232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" name="Google Shape;371;g2ce7231c83b_0_140">
            <a:extLst>
              <a:ext uri="{FF2B5EF4-FFF2-40B4-BE49-F238E27FC236}">
                <a16:creationId xmlns:a16="http://schemas.microsoft.com/office/drawing/2014/main" id="{5C1AAD7C-8CDB-2C32-BEB7-FF9EAB095D26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7000" y="1875847"/>
            <a:ext cx="4295153" cy="566915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1D4DCB9-7722-70C8-9928-91AE2083FC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7720035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8B977592-8311-509E-9D62-66983047E38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641732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4DB47D-0BAC-E7E0-8242-4005CCD501DC}"/>
              </a:ext>
            </a:extLst>
          </p:cNvPr>
          <p:cNvSpPr/>
          <p:nvPr userDrawn="1"/>
        </p:nvSpPr>
        <p:spPr>
          <a:xfrm>
            <a:off x="1" y="5760842"/>
            <a:ext cx="2017986" cy="10971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36B76-AFD0-1E28-3D2F-BEDABCEE094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8F01D1-6E05-7C5E-6A7D-A18763448908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367854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layout with shap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globe&#10;&#10;Description automatically generated with medium confidence">
            <a:extLst>
              <a:ext uri="{FF2B5EF4-FFF2-40B4-BE49-F238E27FC236}">
                <a16:creationId xmlns:a16="http://schemas.microsoft.com/office/drawing/2014/main" id="{354B30D5-FC93-4942-8235-C0FDDA25B1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425" y="5851525"/>
            <a:ext cx="1620136" cy="7857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0E7485-367B-4735-F4DE-B928E0127FE6}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10509530">
            <a:off x="6588236" y="-1983613"/>
            <a:ext cx="5904370" cy="5904370"/>
          </a:xfrm>
          <a:custGeom>
            <a:avLst/>
            <a:gdLst>
              <a:gd name="connsiteX0" fmla="*/ 5904370 w 5904370"/>
              <a:gd name="connsiteY0" fmla="*/ 3658049 h 5904370"/>
              <a:gd name="connsiteX1" fmla="*/ 0 w 5904370"/>
              <a:gd name="connsiteY1" fmla="*/ 4158125 h 5904370"/>
              <a:gd name="connsiteX2" fmla="*/ 0 w 5904370"/>
              <a:gd name="connsiteY2" fmla="*/ 0 h 5904370"/>
              <a:gd name="connsiteX3" fmla="*/ 5904370 w 5904370"/>
              <a:gd name="connsiteY3" fmla="*/ 0 h 5904370"/>
              <a:gd name="connsiteX4" fmla="*/ 5904370 w 5904370"/>
              <a:gd name="connsiteY4" fmla="*/ 5904370 h 5904370"/>
              <a:gd name="connsiteX5" fmla="*/ 3282743 w 5904370"/>
              <a:gd name="connsiteY5" fmla="*/ 5904370 h 5904370"/>
              <a:gd name="connsiteX6" fmla="*/ 5904370 w 5904370"/>
              <a:gd name="connsiteY6" fmla="*/ 5682329 h 590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04370" h="5904370">
                <a:moveTo>
                  <a:pt x="5904370" y="3658049"/>
                </a:moveTo>
                <a:lnTo>
                  <a:pt x="0" y="4158125"/>
                </a:lnTo>
                <a:lnTo>
                  <a:pt x="0" y="0"/>
                </a:lnTo>
                <a:lnTo>
                  <a:pt x="5904370" y="0"/>
                </a:lnTo>
                <a:close/>
                <a:moveTo>
                  <a:pt x="5904370" y="5904370"/>
                </a:moveTo>
                <a:lnTo>
                  <a:pt x="3282743" y="5904370"/>
                </a:lnTo>
                <a:lnTo>
                  <a:pt x="5904370" y="568232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" name="Google Shape;371;g2ce7231c83b_0_140">
            <a:extLst>
              <a:ext uri="{FF2B5EF4-FFF2-40B4-BE49-F238E27FC236}">
                <a16:creationId xmlns:a16="http://schemas.microsoft.com/office/drawing/2014/main" id="{5C1AAD7C-8CDB-2C32-BEB7-FF9EAB095D26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87000" y="1875847"/>
            <a:ext cx="4295153" cy="566915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522051-24CD-5EFF-6B79-F4BB8BA9D8B7}"/>
              </a:ext>
            </a:extLst>
          </p:cNvPr>
          <p:cNvSpPr/>
          <p:nvPr userDrawn="1"/>
        </p:nvSpPr>
        <p:spPr>
          <a:xfrm>
            <a:off x="1" y="5783283"/>
            <a:ext cx="2137558" cy="1074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BCD5BD-5D7D-40D7-0DC6-5F18872EE3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7720035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124D5BE6-2F4A-0A75-E93B-83151C9420D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641732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E2F15-234C-FBE2-F501-372919B20B4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420" y="5906421"/>
            <a:ext cx="1512246" cy="676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B015B-5091-AC35-D972-84917CCC4303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18863362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layout with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65CC9E-15F7-B8EB-E42F-4365899DF7E8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10509530">
            <a:off x="6588236" y="-1983613"/>
            <a:ext cx="5904370" cy="5904370"/>
          </a:xfrm>
          <a:custGeom>
            <a:avLst/>
            <a:gdLst>
              <a:gd name="connsiteX0" fmla="*/ 5904370 w 5904370"/>
              <a:gd name="connsiteY0" fmla="*/ 3658049 h 5904370"/>
              <a:gd name="connsiteX1" fmla="*/ 0 w 5904370"/>
              <a:gd name="connsiteY1" fmla="*/ 4158125 h 5904370"/>
              <a:gd name="connsiteX2" fmla="*/ 0 w 5904370"/>
              <a:gd name="connsiteY2" fmla="*/ 0 h 5904370"/>
              <a:gd name="connsiteX3" fmla="*/ 5904370 w 5904370"/>
              <a:gd name="connsiteY3" fmla="*/ 0 h 5904370"/>
              <a:gd name="connsiteX4" fmla="*/ 5904370 w 5904370"/>
              <a:gd name="connsiteY4" fmla="*/ 5904370 h 5904370"/>
              <a:gd name="connsiteX5" fmla="*/ 3282743 w 5904370"/>
              <a:gd name="connsiteY5" fmla="*/ 5904370 h 5904370"/>
              <a:gd name="connsiteX6" fmla="*/ 5904370 w 5904370"/>
              <a:gd name="connsiteY6" fmla="*/ 5682329 h 590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04370" h="5904370">
                <a:moveTo>
                  <a:pt x="5904370" y="3658049"/>
                </a:moveTo>
                <a:lnTo>
                  <a:pt x="0" y="4158125"/>
                </a:lnTo>
                <a:lnTo>
                  <a:pt x="0" y="0"/>
                </a:lnTo>
                <a:lnTo>
                  <a:pt x="5904370" y="0"/>
                </a:lnTo>
                <a:close/>
                <a:moveTo>
                  <a:pt x="5904370" y="5904370"/>
                </a:moveTo>
                <a:lnTo>
                  <a:pt x="3282743" y="5904370"/>
                </a:lnTo>
                <a:lnTo>
                  <a:pt x="5904370" y="5682329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" name="Google Shape;371;g2ce7231c83b_0_140">
            <a:extLst>
              <a:ext uri="{FF2B5EF4-FFF2-40B4-BE49-F238E27FC236}">
                <a16:creationId xmlns:a16="http://schemas.microsoft.com/office/drawing/2014/main" id="{816B7940-9248-4111-40CD-DBD78BB1ABCB}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440" t="45145"/>
          <a:stretch/>
        </p:blipFill>
        <p:spPr>
          <a:xfrm rot="-5400000">
            <a:off x="676726" y="1886121"/>
            <a:ext cx="4295153" cy="566915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90AB42-F702-EBAB-9A03-A192EB8D96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2299" y="577948"/>
            <a:ext cx="7720035" cy="4366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dirty="0"/>
              <a:t>Slide title goes here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6DA5A3F5-03FA-BB5E-54FE-1E390824CDA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2301" y="1327150"/>
            <a:ext cx="6417326" cy="4121150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chemeClr val="accent4"/>
              </a:buCl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902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A43140-84F3-0659-4CD6-32FB3721373A}"/>
              </a:ext>
            </a:extLst>
          </p:cNvPr>
          <p:cNvSpPr/>
          <p:nvPr userDrawn="1"/>
        </p:nvSpPr>
        <p:spPr>
          <a:xfrm>
            <a:off x="1" y="5783283"/>
            <a:ext cx="2137558" cy="1074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and orange circle&#10;&#10;Description automatically generated">
            <a:extLst>
              <a:ext uri="{FF2B5EF4-FFF2-40B4-BE49-F238E27FC236}">
                <a16:creationId xmlns:a16="http://schemas.microsoft.com/office/drawing/2014/main" id="{069D2BDA-05C1-E93B-DACF-BA6FF188ED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421" r="27018"/>
          <a:stretch/>
        </p:blipFill>
        <p:spPr>
          <a:xfrm rot="-1980000" flipV="1">
            <a:off x="5944467" y="-729902"/>
            <a:ext cx="7742364" cy="8336090"/>
          </a:xfrm>
          <a:custGeom>
            <a:avLst/>
            <a:gdLst>
              <a:gd name="connsiteX0" fmla="*/ 3762603 w 7742364"/>
              <a:gd name="connsiteY0" fmla="*/ 8336090 h 8336090"/>
              <a:gd name="connsiteX1" fmla="*/ 7742364 w 7742364"/>
              <a:gd name="connsiteY1" fmla="*/ 5751603 h 8336090"/>
              <a:gd name="connsiteX2" fmla="*/ 4007229 w 7742364"/>
              <a:gd name="connsiteY2" fmla="*/ 0 h 8336090"/>
              <a:gd name="connsiteX3" fmla="*/ 0 w 7742364"/>
              <a:gd name="connsiteY3" fmla="*/ 2602325 h 8336090"/>
              <a:gd name="connsiteX4" fmla="*/ 0 w 7742364"/>
              <a:gd name="connsiteY4" fmla="*/ 6223984 h 8336090"/>
              <a:gd name="connsiteX5" fmla="*/ 1371618 w 7742364"/>
              <a:gd name="connsiteY5" fmla="*/ 8336090 h 8336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42364" h="8336090">
                <a:moveTo>
                  <a:pt x="3762603" y="8336090"/>
                </a:moveTo>
                <a:lnTo>
                  <a:pt x="7742364" y="5751603"/>
                </a:lnTo>
                <a:lnTo>
                  <a:pt x="4007229" y="0"/>
                </a:lnTo>
                <a:lnTo>
                  <a:pt x="0" y="2602325"/>
                </a:lnTo>
                <a:lnTo>
                  <a:pt x="0" y="6223984"/>
                </a:lnTo>
                <a:lnTo>
                  <a:pt x="1371618" y="8336090"/>
                </a:ln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E06CC8-117D-9C25-4F5B-2639FA03F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1110" y="872703"/>
            <a:ext cx="2556985" cy="11443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EF2ACC-9189-977F-F64B-7D46E284F86B}"/>
              </a:ext>
            </a:extLst>
          </p:cNvPr>
          <p:cNvSpPr txBox="1"/>
          <p:nvPr userDrawn="1"/>
        </p:nvSpPr>
        <p:spPr>
          <a:xfrm>
            <a:off x="836786" y="2428837"/>
            <a:ext cx="6386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Thank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793F5F-1B20-138C-BFC9-EF27BBB4435B}"/>
              </a:ext>
            </a:extLst>
          </p:cNvPr>
          <p:cNvSpPr txBox="1"/>
          <p:nvPr userDrawn="1"/>
        </p:nvSpPr>
        <p:spPr>
          <a:xfrm>
            <a:off x="814316" y="6009210"/>
            <a:ext cx="6135652" cy="278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</a:t>
            </a:r>
            <a:r>
              <a:rPr lang="en-GB" b="1" dirty="0">
                <a:solidFill>
                  <a:schemeClr val="accent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Innovation. </a:t>
            </a:r>
            <a:r>
              <a:rPr lang="en-GB" b="1" dirty="0"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Life.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FEF20-BC07-3075-C0BA-2D8AEDF1851E}"/>
              </a:ext>
            </a:extLst>
          </p:cNvPr>
          <p:cNvSpPr txBox="1"/>
          <p:nvPr userDrawn="1"/>
        </p:nvSpPr>
        <p:spPr>
          <a:xfrm>
            <a:off x="814316" y="4099761"/>
            <a:ext cx="6135652" cy="8393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more information visit </a:t>
            </a:r>
            <a:r>
              <a:rPr lang="en-GB" sz="2400" b="0" dirty="0" err="1"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enzene.com</a:t>
            </a:r>
            <a:r>
              <a:rPr lang="en-GB" sz="2400" b="0" dirty="0"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400" b="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 get in touch at </a:t>
            </a:r>
            <a:r>
              <a:rPr lang="en-GB" sz="2400" b="0" u="none" dirty="0" err="1"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info@enzene.com</a:t>
            </a:r>
            <a:r>
              <a:rPr lang="en-GB" sz="2400" b="0" u="none" dirty="0">
                <a:solidFill>
                  <a:schemeClr val="accent4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37354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67111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17" y="4246052"/>
            <a:ext cx="6081810" cy="4212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19" y="3307212"/>
            <a:ext cx="6081810" cy="42121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17" y="4708947"/>
            <a:ext cx="6081810" cy="43737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19" y="2845235"/>
            <a:ext cx="6081810" cy="42121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19" y="3770311"/>
            <a:ext cx="6081810" cy="43125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22" y="2373895"/>
            <a:ext cx="6081807" cy="42831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22" y="1902556"/>
            <a:ext cx="6081807" cy="42831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17" y="5192552"/>
            <a:ext cx="3933157" cy="42121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19" y="5662615"/>
            <a:ext cx="3367415" cy="42678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9317" y="6133899"/>
            <a:ext cx="1742915" cy="403516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6889253" y="1363004"/>
            <a:ext cx="28575" cy="5173980"/>
          </a:xfrm>
          <a:custGeom>
            <a:avLst/>
            <a:gdLst/>
            <a:ahLst/>
            <a:cxnLst/>
            <a:rect l="l" t="t" r="r" b="b"/>
            <a:pathLst>
              <a:path w="28575" h="5173980">
                <a:moveTo>
                  <a:pt x="22178" y="0"/>
                </a:moveTo>
                <a:lnTo>
                  <a:pt x="6395" y="0"/>
                </a:lnTo>
                <a:lnTo>
                  <a:pt x="0" y="6396"/>
                </a:lnTo>
                <a:lnTo>
                  <a:pt x="0" y="22207"/>
                </a:lnTo>
                <a:lnTo>
                  <a:pt x="6395" y="28602"/>
                </a:lnTo>
                <a:lnTo>
                  <a:pt x="22178" y="28602"/>
                </a:lnTo>
                <a:lnTo>
                  <a:pt x="28575" y="22207"/>
                </a:lnTo>
                <a:lnTo>
                  <a:pt x="28575" y="6396"/>
                </a:lnTo>
                <a:lnTo>
                  <a:pt x="22178" y="0"/>
                </a:lnTo>
                <a:close/>
              </a:path>
              <a:path w="28575" h="5173980">
                <a:moveTo>
                  <a:pt x="22178" y="114327"/>
                </a:moveTo>
                <a:lnTo>
                  <a:pt x="6395" y="114327"/>
                </a:lnTo>
                <a:lnTo>
                  <a:pt x="0" y="120724"/>
                </a:lnTo>
                <a:lnTo>
                  <a:pt x="0" y="136535"/>
                </a:lnTo>
                <a:lnTo>
                  <a:pt x="6395" y="142932"/>
                </a:lnTo>
                <a:lnTo>
                  <a:pt x="22178" y="142932"/>
                </a:lnTo>
                <a:lnTo>
                  <a:pt x="28575" y="136535"/>
                </a:lnTo>
                <a:lnTo>
                  <a:pt x="28575" y="120724"/>
                </a:lnTo>
                <a:lnTo>
                  <a:pt x="22178" y="114327"/>
                </a:lnTo>
                <a:close/>
              </a:path>
              <a:path w="28575" h="5173980">
                <a:moveTo>
                  <a:pt x="22178" y="228657"/>
                </a:moveTo>
                <a:lnTo>
                  <a:pt x="6395" y="228657"/>
                </a:lnTo>
                <a:lnTo>
                  <a:pt x="0" y="235054"/>
                </a:lnTo>
                <a:lnTo>
                  <a:pt x="0" y="250864"/>
                </a:lnTo>
                <a:lnTo>
                  <a:pt x="6396" y="257260"/>
                </a:lnTo>
                <a:lnTo>
                  <a:pt x="22178" y="257260"/>
                </a:lnTo>
                <a:lnTo>
                  <a:pt x="28575" y="250864"/>
                </a:lnTo>
                <a:lnTo>
                  <a:pt x="28575" y="235054"/>
                </a:lnTo>
                <a:lnTo>
                  <a:pt x="22178" y="228657"/>
                </a:lnTo>
                <a:close/>
              </a:path>
              <a:path w="28575" h="5173980">
                <a:moveTo>
                  <a:pt x="22178" y="342985"/>
                </a:moveTo>
                <a:lnTo>
                  <a:pt x="6396" y="342985"/>
                </a:lnTo>
                <a:lnTo>
                  <a:pt x="0" y="349382"/>
                </a:lnTo>
                <a:lnTo>
                  <a:pt x="0" y="365192"/>
                </a:lnTo>
                <a:lnTo>
                  <a:pt x="6396" y="371589"/>
                </a:lnTo>
                <a:lnTo>
                  <a:pt x="22178" y="371589"/>
                </a:lnTo>
                <a:lnTo>
                  <a:pt x="28575" y="365192"/>
                </a:lnTo>
                <a:lnTo>
                  <a:pt x="28575" y="349382"/>
                </a:lnTo>
                <a:lnTo>
                  <a:pt x="22178" y="342985"/>
                </a:lnTo>
                <a:close/>
              </a:path>
              <a:path w="28575" h="5173980">
                <a:moveTo>
                  <a:pt x="22178" y="457314"/>
                </a:moveTo>
                <a:lnTo>
                  <a:pt x="6396" y="457314"/>
                </a:lnTo>
                <a:lnTo>
                  <a:pt x="0" y="463711"/>
                </a:lnTo>
                <a:lnTo>
                  <a:pt x="0" y="479521"/>
                </a:lnTo>
                <a:lnTo>
                  <a:pt x="6396" y="485917"/>
                </a:lnTo>
                <a:lnTo>
                  <a:pt x="22178" y="485917"/>
                </a:lnTo>
                <a:lnTo>
                  <a:pt x="28575" y="479521"/>
                </a:lnTo>
                <a:lnTo>
                  <a:pt x="28575" y="463711"/>
                </a:lnTo>
                <a:lnTo>
                  <a:pt x="22178" y="457314"/>
                </a:lnTo>
                <a:close/>
              </a:path>
              <a:path w="28575" h="5173980">
                <a:moveTo>
                  <a:pt x="22178" y="571642"/>
                </a:moveTo>
                <a:lnTo>
                  <a:pt x="6396" y="571642"/>
                </a:lnTo>
                <a:lnTo>
                  <a:pt x="0" y="578039"/>
                </a:lnTo>
                <a:lnTo>
                  <a:pt x="0" y="593849"/>
                </a:lnTo>
                <a:lnTo>
                  <a:pt x="6396" y="600246"/>
                </a:lnTo>
                <a:lnTo>
                  <a:pt x="22178" y="600246"/>
                </a:lnTo>
                <a:lnTo>
                  <a:pt x="28575" y="593849"/>
                </a:lnTo>
                <a:lnTo>
                  <a:pt x="28575" y="578039"/>
                </a:lnTo>
                <a:lnTo>
                  <a:pt x="22178" y="571642"/>
                </a:lnTo>
                <a:close/>
              </a:path>
              <a:path w="28575" h="5173980">
                <a:moveTo>
                  <a:pt x="22178" y="685971"/>
                </a:moveTo>
                <a:lnTo>
                  <a:pt x="6396" y="685971"/>
                </a:lnTo>
                <a:lnTo>
                  <a:pt x="0" y="692368"/>
                </a:lnTo>
                <a:lnTo>
                  <a:pt x="0" y="708178"/>
                </a:lnTo>
                <a:lnTo>
                  <a:pt x="6396" y="714574"/>
                </a:lnTo>
                <a:lnTo>
                  <a:pt x="22178" y="714574"/>
                </a:lnTo>
                <a:lnTo>
                  <a:pt x="28575" y="708178"/>
                </a:lnTo>
                <a:lnTo>
                  <a:pt x="28575" y="692368"/>
                </a:lnTo>
                <a:lnTo>
                  <a:pt x="22178" y="685971"/>
                </a:lnTo>
                <a:close/>
              </a:path>
              <a:path w="28575" h="5173980">
                <a:moveTo>
                  <a:pt x="22178" y="800299"/>
                </a:moveTo>
                <a:lnTo>
                  <a:pt x="6396" y="800299"/>
                </a:lnTo>
                <a:lnTo>
                  <a:pt x="0" y="806696"/>
                </a:lnTo>
                <a:lnTo>
                  <a:pt x="0" y="822506"/>
                </a:lnTo>
                <a:lnTo>
                  <a:pt x="6396" y="828903"/>
                </a:lnTo>
                <a:lnTo>
                  <a:pt x="22178" y="828903"/>
                </a:lnTo>
                <a:lnTo>
                  <a:pt x="28575" y="822506"/>
                </a:lnTo>
                <a:lnTo>
                  <a:pt x="28575" y="806696"/>
                </a:lnTo>
                <a:lnTo>
                  <a:pt x="22178" y="800299"/>
                </a:lnTo>
                <a:close/>
              </a:path>
              <a:path w="28575" h="5173980">
                <a:moveTo>
                  <a:pt x="22178" y="914628"/>
                </a:moveTo>
                <a:lnTo>
                  <a:pt x="6396" y="914628"/>
                </a:lnTo>
                <a:lnTo>
                  <a:pt x="0" y="921025"/>
                </a:lnTo>
                <a:lnTo>
                  <a:pt x="0" y="936835"/>
                </a:lnTo>
                <a:lnTo>
                  <a:pt x="6396" y="943231"/>
                </a:lnTo>
                <a:lnTo>
                  <a:pt x="22178" y="943231"/>
                </a:lnTo>
                <a:lnTo>
                  <a:pt x="28575" y="936835"/>
                </a:lnTo>
                <a:lnTo>
                  <a:pt x="28575" y="921025"/>
                </a:lnTo>
                <a:lnTo>
                  <a:pt x="22178" y="914628"/>
                </a:lnTo>
                <a:close/>
              </a:path>
              <a:path w="28575" h="5173980">
                <a:moveTo>
                  <a:pt x="22178" y="1028956"/>
                </a:moveTo>
                <a:lnTo>
                  <a:pt x="6396" y="1028956"/>
                </a:lnTo>
                <a:lnTo>
                  <a:pt x="0" y="1035353"/>
                </a:lnTo>
                <a:lnTo>
                  <a:pt x="0" y="1051163"/>
                </a:lnTo>
                <a:lnTo>
                  <a:pt x="6396" y="1057560"/>
                </a:lnTo>
                <a:lnTo>
                  <a:pt x="22178" y="1057560"/>
                </a:lnTo>
                <a:lnTo>
                  <a:pt x="28575" y="1051163"/>
                </a:lnTo>
                <a:lnTo>
                  <a:pt x="28575" y="1035353"/>
                </a:lnTo>
                <a:lnTo>
                  <a:pt x="22178" y="1028956"/>
                </a:lnTo>
                <a:close/>
              </a:path>
              <a:path w="28575" h="5173980">
                <a:moveTo>
                  <a:pt x="22178" y="1143285"/>
                </a:moveTo>
                <a:lnTo>
                  <a:pt x="6396" y="1143285"/>
                </a:lnTo>
                <a:lnTo>
                  <a:pt x="0" y="1149682"/>
                </a:lnTo>
                <a:lnTo>
                  <a:pt x="0" y="1165491"/>
                </a:lnTo>
                <a:lnTo>
                  <a:pt x="6396" y="1171888"/>
                </a:lnTo>
                <a:lnTo>
                  <a:pt x="22178" y="1171888"/>
                </a:lnTo>
                <a:lnTo>
                  <a:pt x="28575" y="1165491"/>
                </a:lnTo>
                <a:lnTo>
                  <a:pt x="28575" y="1149682"/>
                </a:lnTo>
                <a:lnTo>
                  <a:pt x="22178" y="1143285"/>
                </a:lnTo>
                <a:close/>
              </a:path>
              <a:path w="28575" h="5173980">
                <a:moveTo>
                  <a:pt x="22178" y="1257613"/>
                </a:moveTo>
                <a:lnTo>
                  <a:pt x="6396" y="1257613"/>
                </a:lnTo>
                <a:lnTo>
                  <a:pt x="0" y="1264010"/>
                </a:lnTo>
                <a:lnTo>
                  <a:pt x="0" y="1279820"/>
                </a:lnTo>
                <a:lnTo>
                  <a:pt x="6396" y="1286217"/>
                </a:lnTo>
                <a:lnTo>
                  <a:pt x="22178" y="1286217"/>
                </a:lnTo>
                <a:lnTo>
                  <a:pt x="28575" y="1279820"/>
                </a:lnTo>
                <a:lnTo>
                  <a:pt x="28575" y="1264010"/>
                </a:lnTo>
                <a:lnTo>
                  <a:pt x="22178" y="1257613"/>
                </a:lnTo>
                <a:close/>
              </a:path>
              <a:path w="28575" h="5173980">
                <a:moveTo>
                  <a:pt x="22178" y="1371942"/>
                </a:moveTo>
                <a:lnTo>
                  <a:pt x="6396" y="1371942"/>
                </a:lnTo>
                <a:lnTo>
                  <a:pt x="0" y="1378339"/>
                </a:lnTo>
                <a:lnTo>
                  <a:pt x="0" y="1394150"/>
                </a:lnTo>
                <a:lnTo>
                  <a:pt x="6396" y="1400545"/>
                </a:lnTo>
                <a:lnTo>
                  <a:pt x="22178" y="1400545"/>
                </a:lnTo>
                <a:lnTo>
                  <a:pt x="28575" y="1394150"/>
                </a:lnTo>
                <a:lnTo>
                  <a:pt x="28575" y="1378339"/>
                </a:lnTo>
                <a:lnTo>
                  <a:pt x="22178" y="1371942"/>
                </a:lnTo>
                <a:close/>
              </a:path>
              <a:path w="28575" h="5173980">
                <a:moveTo>
                  <a:pt x="22178" y="1486270"/>
                </a:moveTo>
                <a:lnTo>
                  <a:pt x="6396" y="1486270"/>
                </a:lnTo>
                <a:lnTo>
                  <a:pt x="0" y="1492667"/>
                </a:lnTo>
                <a:lnTo>
                  <a:pt x="0" y="1508478"/>
                </a:lnTo>
                <a:lnTo>
                  <a:pt x="6396" y="1514875"/>
                </a:lnTo>
                <a:lnTo>
                  <a:pt x="22178" y="1514875"/>
                </a:lnTo>
                <a:lnTo>
                  <a:pt x="28575" y="1508478"/>
                </a:lnTo>
                <a:lnTo>
                  <a:pt x="28575" y="1492667"/>
                </a:lnTo>
                <a:lnTo>
                  <a:pt x="22178" y="1486270"/>
                </a:lnTo>
                <a:close/>
              </a:path>
              <a:path w="28575" h="5173980">
                <a:moveTo>
                  <a:pt x="22178" y="1600600"/>
                </a:moveTo>
                <a:lnTo>
                  <a:pt x="6396" y="1600600"/>
                </a:lnTo>
                <a:lnTo>
                  <a:pt x="0" y="1606997"/>
                </a:lnTo>
                <a:lnTo>
                  <a:pt x="0" y="1622807"/>
                </a:lnTo>
                <a:lnTo>
                  <a:pt x="6396" y="1629202"/>
                </a:lnTo>
                <a:lnTo>
                  <a:pt x="22178" y="1629202"/>
                </a:lnTo>
                <a:lnTo>
                  <a:pt x="28575" y="1622807"/>
                </a:lnTo>
                <a:lnTo>
                  <a:pt x="28575" y="1606997"/>
                </a:lnTo>
                <a:lnTo>
                  <a:pt x="22178" y="1600600"/>
                </a:lnTo>
                <a:close/>
              </a:path>
              <a:path w="28575" h="5173980">
                <a:moveTo>
                  <a:pt x="22178" y="1714927"/>
                </a:moveTo>
                <a:lnTo>
                  <a:pt x="6396" y="1714927"/>
                </a:lnTo>
                <a:lnTo>
                  <a:pt x="0" y="1721324"/>
                </a:lnTo>
                <a:lnTo>
                  <a:pt x="0" y="1737135"/>
                </a:lnTo>
                <a:lnTo>
                  <a:pt x="6396" y="1743532"/>
                </a:lnTo>
                <a:lnTo>
                  <a:pt x="22178" y="1743532"/>
                </a:lnTo>
                <a:lnTo>
                  <a:pt x="28575" y="1737135"/>
                </a:lnTo>
                <a:lnTo>
                  <a:pt x="28575" y="1721324"/>
                </a:lnTo>
                <a:lnTo>
                  <a:pt x="22178" y="1714927"/>
                </a:lnTo>
                <a:close/>
              </a:path>
              <a:path w="28575" h="5173980">
                <a:moveTo>
                  <a:pt x="22178" y="1829257"/>
                </a:moveTo>
                <a:lnTo>
                  <a:pt x="6396" y="1829257"/>
                </a:lnTo>
                <a:lnTo>
                  <a:pt x="0" y="1835654"/>
                </a:lnTo>
                <a:lnTo>
                  <a:pt x="0" y="1851464"/>
                </a:lnTo>
                <a:lnTo>
                  <a:pt x="6396" y="1857861"/>
                </a:lnTo>
                <a:lnTo>
                  <a:pt x="22178" y="1857861"/>
                </a:lnTo>
                <a:lnTo>
                  <a:pt x="28575" y="1851464"/>
                </a:lnTo>
                <a:lnTo>
                  <a:pt x="28575" y="1835654"/>
                </a:lnTo>
                <a:lnTo>
                  <a:pt x="22178" y="1829257"/>
                </a:lnTo>
                <a:close/>
              </a:path>
              <a:path w="28575" h="5173980">
                <a:moveTo>
                  <a:pt x="22178" y="1943586"/>
                </a:moveTo>
                <a:lnTo>
                  <a:pt x="6396" y="1943586"/>
                </a:lnTo>
                <a:lnTo>
                  <a:pt x="0" y="1949982"/>
                </a:lnTo>
                <a:lnTo>
                  <a:pt x="0" y="1965792"/>
                </a:lnTo>
                <a:lnTo>
                  <a:pt x="6396" y="1972189"/>
                </a:lnTo>
                <a:lnTo>
                  <a:pt x="22178" y="1972189"/>
                </a:lnTo>
                <a:lnTo>
                  <a:pt x="28575" y="1965792"/>
                </a:lnTo>
                <a:lnTo>
                  <a:pt x="28575" y="1949982"/>
                </a:lnTo>
                <a:lnTo>
                  <a:pt x="22178" y="1943586"/>
                </a:lnTo>
                <a:close/>
              </a:path>
              <a:path w="28575" h="5173980">
                <a:moveTo>
                  <a:pt x="22178" y="2057914"/>
                </a:moveTo>
                <a:lnTo>
                  <a:pt x="6396" y="2057914"/>
                </a:lnTo>
                <a:lnTo>
                  <a:pt x="0" y="2064311"/>
                </a:lnTo>
                <a:lnTo>
                  <a:pt x="0" y="2080121"/>
                </a:lnTo>
                <a:lnTo>
                  <a:pt x="6396" y="2086518"/>
                </a:lnTo>
                <a:lnTo>
                  <a:pt x="22178" y="2086518"/>
                </a:lnTo>
                <a:lnTo>
                  <a:pt x="28575" y="2080121"/>
                </a:lnTo>
                <a:lnTo>
                  <a:pt x="28575" y="2064311"/>
                </a:lnTo>
                <a:lnTo>
                  <a:pt x="22178" y="2057914"/>
                </a:lnTo>
                <a:close/>
              </a:path>
              <a:path w="28575" h="5173980">
                <a:moveTo>
                  <a:pt x="22178" y="2172243"/>
                </a:moveTo>
                <a:lnTo>
                  <a:pt x="6396" y="2172243"/>
                </a:lnTo>
                <a:lnTo>
                  <a:pt x="0" y="2178639"/>
                </a:lnTo>
                <a:lnTo>
                  <a:pt x="0" y="2194449"/>
                </a:lnTo>
                <a:lnTo>
                  <a:pt x="6396" y="2200846"/>
                </a:lnTo>
                <a:lnTo>
                  <a:pt x="22178" y="2200846"/>
                </a:lnTo>
                <a:lnTo>
                  <a:pt x="28575" y="2194449"/>
                </a:lnTo>
                <a:lnTo>
                  <a:pt x="28575" y="2178639"/>
                </a:lnTo>
                <a:lnTo>
                  <a:pt x="22178" y="2172243"/>
                </a:lnTo>
                <a:close/>
              </a:path>
              <a:path w="28575" h="5173980">
                <a:moveTo>
                  <a:pt x="22178" y="2286571"/>
                </a:moveTo>
                <a:lnTo>
                  <a:pt x="6396" y="2286571"/>
                </a:lnTo>
                <a:lnTo>
                  <a:pt x="0" y="2292968"/>
                </a:lnTo>
                <a:lnTo>
                  <a:pt x="0" y="2308778"/>
                </a:lnTo>
                <a:lnTo>
                  <a:pt x="6396" y="2315174"/>
                </a:lnTo>
                <a:lnTo>
                  <a:pt x="22178" y="2315174"/>
                </a:lnTo>
                <a:lnTo>
                  <a:pt x="28575" y="2308778"/>
                </a:lnTo>
                <a:lnTo>
                  <a:pt x="28575" y="2292968"/>
                </a:lnTo>
                <a:lnTo>
                  <a:pt x="22178" y="2286571"/>
                </a:lnTo>
                <a:close/>
              </a:path>
              <a:path w="28575" h="5173980">
                <a:moveTo>
                  <a:pt x="22178" y="2400899"/>
                </a:moveTo>
                <a:lnTo>
                  <a:pt x="6396" y="2400899"/>
                </a:lnTo>
                <a:lnTo>
                  <a:pt x="0" y="2407296"/>
                </a:lnTo>
                <a:lnTo>
                  <a:pt x="0" y="2423106"/>
                </a:lnTo>
                <a:lnTo>
                  <a:pt x="6396" y="2429503"/>
                </a:lnTo>
                <a:lnTo>
                  <a:pt x="22178" y="2429503"/>
                </a:lnTo>
                <a:lnTo>
                  <a:pt x="28575" y="2423106"/>
                </a:lnTo>
                <a:lnTo>
                  <a:pt x="28575" y="2407296"/>
                </a:lnTo>
                <a:lnTo>
                  <a:pt x="22178" y="2400899"/>
                </a:lnTo>
                <a:close/>
              </a:path>
              <a:path w="28575" h="5173980">
                <a:moveTo>
                  <a:pt x="22178" y="2515228"/>
                </a:moveTo>
                <a:lnTo>
                  <a:pt x="6396" y="2515228"/>
                </a:lnTo>
                <a:lnTo>
                  <a:pt x="0" y="2521625"/>
                </a:lnTo>
                <a:lnTo>
                  <a:pt x="0" y="2537435"/>
                </a:lnTo>
                <a:lnTo>
                  <a:pt x="6396" y="2543831"/>
                </a:lnTo>
                <a:lnTo>
                  <a:pt x="22178" y="2543831"/>
                </a:lnTo>
                <a:lnTo>
                  <a:pt x="28575" y="2537435"/>
                </a:lnTo>
                <a:lnTo>
                  <a:pt x="28575" y="2521625"/>
                </a:lnTo>
                <a:lnTo>
                  <a:pt x="22178" y="2515228"/>
                </a:lnTo>
                <a:close/>
              </a:path>
              <a:path w="28575" h="5173980">
                <a:moveTo>
                  <a:pt x="22178" y="2629556"/>
                </a:moveTo>
                <a:lnTo>
                  <a:pt x="6396" y="2629556"/>
                </a:lnTo>
                <a:lnTo>
                  <a:pt x="0" y="2635953"/>
                </a:lnTo>
                <a:lnTo>
                  <a:pt x="0" y="2651763"/>
                </a:lnTo>
                <a:lnTo>
                  <a:pt x="6396" y="2658160"/>
                </a:lnTo>
                <a:lnTo>
                  <a:pt x="22178" y="2658160"/>
                </a:lnTo>
                <a:lnTo>
                  <a:pt x="28575" y="2651763"/>
                </a:lnTo>
                <a:lnTo>
                  <a:pt x="28575" y="2635953"/>
                </a:lnTo>
                <a:lnTo>
                  <a:pt x="22178" y="2629556"/>
                </a:lnTo>
                <a:close/>
              </a:path>
              <a:path w="28575" h="5173980">
                <a:moveTo>
                  <a:pt x="22178" y="2743885"/>
                </a:moveTo>
                <a:lnTo>
                  <a:pt x="6396" y="2743885"/>
                </a:lnTo>
                <a:lnTo>
                  <a:pt x="0" y="2750282"/>
                </a:lnTo>
                <a:lnTo>
                  <a:pt x="0" y="2766091"/>
                </a:lnTo>
                <a:lnTo>
                  <a:pt x="6396" y="2772488"/>
                </a:lnTo>
                <a:lnTo>
                  <a:pt x="22178" y="2772488"/>
                </a:lnTo>
                <a:lnTo>
                  <a:pt x="28575" y="2766091"/>
                </a:lnTo>
                <a:lnTo>
                  <a:pt x="28575" y="2750282"/>
                </a:lnTo>
                <a:lnTo>
                  <a:pt x="22178" y="2743885"/>
                </a:lnTo>
                <a:close/>
              </a:path>
              <a:path w="28575" h="5173980">
                <a:moveTo>
                  <a:pt x="22178" y="2858213"/>
                </a:moveTo>
                <a:lnTo>
                  <a:pt x="6396" y="2858213"/>
                </a:lnTo>
                <a:lnTo>
                  <a:pt x="0" y="2864610"/>
                </a:lnTo>
                <a:lnTo>
                  <a:pt x="0" y="2880420"/>
                </a:lnTo>
                <a:lnTo>
                  <a:pt x="6396" y="2886817"/>
                </a:lnTo>
                <a:lnTo>
                  <a:pt x="22178" y="2886817"/>
                </a:lnTo>
                <a:lnTo>
                  <a:pt x="28575" y="2880420"/>
                </a:lnTo>
                <a:lnTo>
                  <a:pt x="28575" y="2864610"/>
                </a:lnTo>
                <a:lnTo>
                  <a:pt x="22178" y="2858213"/>
                </a:lnTo>
                <a:close/>
              </a:path>
              <a:path w="28575" h="5173980">
                <a:moveTo>
                  <a:pt x="22178" y="2972542"/>
                </a:moveTo>
                <a:lnTo>
                  <a:pt x="6396" y="2972542"/>
                </a:lnTo>
                <a:lnTo>
                  <a:pt x="0" y="2978938"/>
                </a:lnTo>
                <a:lnTo>
                  <a:pt x="0" y="2994748"/>
                </a:lnTo>
                <a:lnTo>
                  <a:pt x="6396" y="3001145"/>
                </a:lnTo>
                <a:lnTo>
                  <a:pt x="22178" y="3001145"/>
                </a:lnTo>
                <a:lnTo>
                  <a:pt x="28575" y="2994748"/>
                </a:lnTo>
                <a:lnTo>
                  <a:pt x="28575" y="2978938"/>
                </a:lnTo>
                <a:lnTo>
                  <a:pt x="22178" y="2972542"/>
                </a:lnTo>
                <a:close/>
              </a:path>
              <a:path w="28575" h="5173980">
                <a:moveTo>
                  <a:pt x="22178" y="3086870"/>
                </a:moveTo>
                <a:lnTo>
                  <a:pt x="6396" y="3086870"/>
                </a:lnTo>
                <a:lnTo>
                  <a:pt x="0" y="3093267"/>
                </a:lnTo>
                <a:lnTo>
                  <a:pt x="0" y="3109078"/>
                </a:lnTo>
                <a:lnTo>
                  <a:pt x="6396" y="3115475"/>
                </a:lnTo>
                <a:lnTo>
                  <a:pt x="22178" y="3115475"/>
                </a:lnTo>
                <a:lnTo>
                  <a:pt x="28575" y="3109078"/>
                </a:lnTo>
                <a:lnTo>
                  <a:pt x="28575" y="3093267"/>
                </a:lnTo>
                <a:lnTo>
                  <a:pt x="22178" y="3086870"/>
                </a:lnTo>
                <a:close/>
              </a:path>
              <a:path w="28575" h="5173980">
                <a:moveTo>
                  <a:pt x="22178" y="3201200"/>
                </a:moveTo>
                <a:lnTo>
                  <a:pt x="6396" y="3201200"/>
                </a:lnTo>
                <a:lnTo>
                  <a:pt x="0" y="3207595"/>
                </a:lnTo>
                <a:lnTo>
                  <a:pt x="0" y="3223406"/>
                </a:lnTo>
                <a:lnTo>
                  <a:pt x="6396" y="3229803"/>
                </a:lnTo>
                <a:lnTo>
                  <a:pt x="22178" y="3229803"/>
                </a:lnTo>
                <a:lnTo>
                  <a:pt x="28575" y="3223406"/>
                </a:lnTo>
                <a:lnTo>
                  <a:pt x="28575" y="3207595"/>
                </a:lnTo>
                <a:lnTo>
                  <a:pt x="22178" y="3201200"/>
                </a:lnTo>
                <a:close/>
              </a:path>
              <a:path w="28575" h="5173980">
                <a:moveTo>
                  <a:pt x="22178" y="3315528"/>
                </a:moveTo>
                <a:lnTo>
                  <a:pt x="6396" y="3315528"/>
                </a:lnTo>
                <a:lnTo>
                  <a:pt x="0" y="3321925"/>
                </a:lnTo>
                <a:lnTo>
                  <a:pt x="0" y="3337735"/>
                </a:lnTo>
                <a:lnTo>
                  <a:pt x="6396" y="3344130"/>
                </a:lnTo>
                <a:lnTo>
                  <a:pt x="22178" y="3344130"/>
                </a:lnTo>
                <a:lnTo>
                  <a:pt x="28575" y="3337735"/>
                </a:lnTo>
                <a:lnTo>
                  <a:pt x="28575" y="3321925"/>
                </a:lnTo>
                <a:lnTo>
                  <a:pt x="22178" y="3315528"/>
                </a:lnTo>
                <a:close/>
              </a:path>
              <a:path w="28575" h="5173980">
                <a:moveTo>
                  <a:pt x="22178" y="3429855"/>
                </a:moveTo>
                <a:lnTo>
                  <a:pt x="6396" y="3429855"/>
                </a:lnTo>
                <a:lnTo>
                  <a:pt x="0" y="3436252"/>
                </a:lnTo>
                <a:lnTo>
                  <a:pt x="0" y="3452063"/>
                </a:lnTo>
                <a:lnTo>
                  <a:pt x="6396" y="3458460"/>
                </a:lnTo>
                <a:lnTo>
                  <a:pt x="22178" y="3458460"/>
                </a:lnTo>
                <a:lnTo>
                  <a:pt x="28575" y="3452063"/>
                </a:lnTo>
                <a:lnTo>
                  <a:pt x="28575" y="3436252"/>
                </a:lnTo>
                <a:lnTo>
                  <a:pt x="22178" y="3429855"/>
                </a:lnTo>
                <a:close/>
              </a:path>
              <a:path w="28575" h="5173980">
                <a:moveTo>
                  <a:pt x="22178" y="3544185"/>
                </a:moveTo>
                <a:lnTo>
                  <a:pt x="6396" y="3544185"/>
                </a:lnTo>
                <a:lnTo>
                  <a:pt x="0" y="3550582"/>
                </a:lnTo>
                <a:lnTo>
                  <a:pt x="0" y="3566391"/>
                </a:lnTo>
                <a:lnTo>
                  <a:pt x="6396" y="3572788"/>
                </a:lnTo>
                <a:lnTo>
                  <a:pt x="22178" y="3572788"/>
                </a:lnTo>
                <a:lnTo>
                  <a:pt x="28575" y="3566391"/>
                </a:lnTo>
                <a:lnTo>
                  <a:pt x="28575" y="3550582"/>
                </a:lnTo>
                <a:lnTo>
                  <a:pt x="22178" y="3544185"/>
                </a:lnTo>
                <a:close/>
              </a:path>
              <a:path w="28575" h="5173980">
                <a:moveTo>
                  <a:pt x="22178" y="3658513"/>
                </a:moveTo>
                <a:lnTo>
                  <a:pt x="6396" y="3658513"/>
                </a:lnTo>
                <a:lnTo>
                  <a:pt x="0" y="3664910"/>
                </a:lnTo>
                <a:lnTo>
                  <a:pt x="0" y="3680720"/>
                </a:lnTo>
                <a:lnTo>
                  <a:pt x="6396" y="3687117"/>
                </a:lnTo>
                <a:lnTo>
                  <a:pt x="22178" y="3687117"/>
                </a:lnTo>
                <a:lnTo>
                  <a:pt x="28575" y="3680720"/>
                </a:lnTo>
                <a:lnTo>
                  <a:pt x="28575" y="3664910"/>
                </a:lnTo>
                <a:lnTo>
                  <a:pt x="22178" y="3658513"/>
                </a:lnTo>
                <a:close/>
              </a:path>
              <a:path w="28575" h="5173980">
                <a:moveTo>
                  <a:pt x="22178" y="3772842"/>
                </a:moveTo>
                <a:lnTo>
                  <a:pt x="6396" y="3772842"/>
                </a:lnTo>
                <a:lnTo>
                  <a:pt x="0" y="3779239"/>
                </a:lnTo>
                <a:lnTo>
                  <a:pt x="0" y="3795048"/>
                </a:lnTo>
                <a:lnTo>
                  <a:pt x="6396" y="3801445"/>
                </a:lnTo>
                <a:lnTo>
                  <a:pt x="22178" y="3801445"/>
                </a:lnTo>
                <a:lnTo>
                  <a:pt x="28575" y="3795048"/>
                </a:lnTo>
                <a:lnTo>
                  <a:pt x="28575" y="3779239"/>
                </a:lnTo>
                <a:lnTo>
                  <a:pt x="22178" y="3772842"/>
                </a:lnTo>
                <a:close/>
              </a:path>
              <a:path w="28575" h="5173980">
                <a:moveTo>
                  <a:pt x="22178" y="3887170"/>
                </a:moveTo>
                <a:lnTo>
                  <a:pt x="6396" y="3887170"/>
                </a:lnTo>
                <a:lnTo>
                  <a:pt x="0" y="3893567"/>
                </a:lnTo>
                <a:lnTo>
                  <a:pt x="0" y="3909377"/>
                </a:lnTo>
                <a:lnTo>
                  <a:pt x="6396" y="3915774"/>
                </a:lnTo>
                <a:lnTo>
                  <a:pt x="22178" y="3915774"/>
                </a:lnTo>
                <a:lnTo>
                  <a:pt x="28575" y="3909377"/>
                </a:lnTo>
                <a:lnTo>
                  <a:pt x="28575" y="3893567"/>
                </a:lnTo>
                <a:lnTo>
                  <a:pt x="22178" y="3887170"/>
                </a:lnTo>
                <a:close/>
              </a:path>
              <a:path w="28575" h="5173980">
                <a:moveTo>
                  <a:pt x="22178" y="4001499"/>
                </a:moveTo>
                <a:lnTo>
                  <a:pt x="6396" y="4001499"/>
                </a:lnTo>
                <a:lnTo>
                  <a:pt x="0" y="4007895"/>
                </a:lnTo>
                <a:lnTo>
                  <a:pt x="0" y="4023705"/>
                </a:lnTo>
                <a:lnTo>
                  <a:pt x="6396" y="4030102"/>
                </a:lnTo>
                <a:lnTo>
                  <a:pt x="22178" y="4030102"/>
                </a:lnTo>
                <a:lnTo>
                  <a:pt x="28575" y="4023705"/>
                </a:lnTo>
                <a:lnTo>
                  <a:pt x="28575" y="4007895"/>
                </a:lnTo>
                <a:lnTo>
                  <a:pt x="22178" y="4001499"/>
                </a:lnTo>
                <a:close/>
              </a:path>
              <a:path w="28575" h="5173980">
                <a:moveTo>
                  <a:pt x="22178" y="4115827"/>
                </a:moveTo>
                <a:lnTo>
                  <a:pt x="6396" y="4115827"/>
                </a:lnTo>
                <a:lnTo>
                  <a:pt x="0" y="4122224"/>
                </a:lnTo>
                <a:lnTo>
                  <a:pt x="0" y="4138034"/>
                </a:lnTo>
                <a:lnTo>
                  <a:pt x="6396" y="4144430"/>
                </a:lnTo>
                <a:lnTo>
                  <a:pt x="22178" y="4144430"/>
                </a:lnTo>
                <a:lnTo>
                  <a:pt x="28575" y="4138034"/>
                </a:lnTo>
                <a:lnTo>
                  <a:pt x="28575" y="4122224"/>
                </a:lnTo>
                <a:lnTo>
                  <a:pt x="22178" y="4115827"/>
                </a:lnTo>
                <a:close/>
              </a:path>
              <a:path w="28575" h="5173980">
                <a:moveTo>
                  <a:pt x="22179" y="4230155"/>
                </a:moveTo>
                <a:lnTo>
                  <a:pt x="6396" y="4230155"/>
                </a:lnTo>
                <a:lnTo>
                  <a:pt x="0" y="4236552"/>
                </a:lnTo>
                <a:lnTo>
                  <a:pt x="0" y="4252362"/>
                </a:lnTo>
                <a:lnTo>
                  <a:pt x="6396" y="4258759"/>
                </a:lnTo>
                <a:lnTo>
                  <a:pt x="22179" y="4258759"/>
                </a:lnTo>
                <a:lnTo>
                  <a:pt x="28575" y="4252362"/>
                </a:lnTo>
                <a:lnTo>
                  <a:pt x="28575" y="4236552"/>
                </a:lnTo>
                <a:lnTo>
                  <a:pt x="22179" y="4230155"/>
                </a:lnTo>
                <a:close/>
              </a:path>
              <a:path w="28575" h="5173980">
                <a:moveTo>
                  <a:pt x="22179" y="4344484"/>
                </a:moveTo>
                <a:lnTo>
                  <a:pt x="6396" y="4344484"/>
                </a:lnTo>
                <a:lnTo>
                  <a:pt x="0" y="4350880"/>
                </a:lnTo>
                <a:lnTo>
                  <a:pt x="0" y="4366691"/>
                </a:lnTo>
                <a:lnTo>
                  <a:pt x="6396" y="4373087"/>
                </a:lnTo>
                <a:lnTo>
                  <a:pt x="22179" y="4373087"/>
                </a:lnTo>
                <a:lnTo>
                  <a:pt x="28575" y="4366691"/>
                </a:lnTo>
                <a:lnTo>
                  <a:pt x="28575" y="4350880"/>
                </a:lnTo>
                <a:lnTo>
                  <a:pt x="22179" y="4344484"/>
                </a:lnTo>
                <a:close/>
              </a:path>
              <a:path w="28575" h="5173980">
                <a:moveTo>
                  <a:pt x="22179" y="4458812"/>
                </a:moveTo>
                <a:lnTo>
                  <a:pt x="6396" y="4458812"/>
                </a:lnTo>
                <a:lnTo>
                  <a:pt x="0" y="4465209"/>
                </a:lnTo>
                <a:lnTo>
                  <a:pt x="0" y="4481019"/>
                </a:lnTo>
                <a:lnTo>
                  <a:pt x="6396" y="4487416"/>
                </a:lnTo>
                <a:lnTo>
                  <a:pt x="22179" y="4487416"/>
                </a:lnTo>
                <a:lnTo>
                  <a:pt x="28575" y="4481019"/>
                </a:lnTo>
                <a:lnTo>
                  <a:pt x="28575" y="4465209"/>
                </a:lnTo>
                <a:lnTo>
                  <a:pt x="22179" y="4458812"/>
                </a:lnTo>
                <a:close/>
              </a:path>
              <a:path w="28575" h="5173980">
                <a:moveTo>
                  <a:pt x="22179" y="4573141"/>
                </a:moveTo>
                <a:lnTo>
                  <a:pt x="6396" y="4573141"/>
                </a:lnTo>
                <a:lnTo>
                  <a:pt x="0" y="4579537"/>
                </a:lnTo>
                <a:lnTo>
                  <a:pt x="0" y="4595348"/>
                </a:lnTo>
                <a:lnTo>
                  <a:pt x="6396" y="4601744"/>
                </a:lnTo>
                <a:lnTo>
                  <a:pt x="22179" y="4601744"/>
                </a:lnTo>
                <a:lnTo>
                  <a:pt x="28575" y="4595348"/>
                </a:lnTo>
                <a:lnTo>
                  <a:pt x="28575" y="4579537"/>
                </a:lnTo>
                <a:lnTo>
                  <a:pt x="22179" y="4573141"/>
                </a:lnTo>
                <a:close/>
              </a:path>
              <a:path w="28575" h="5173980">
                <a:moveTo>
                  <a:pt x="22179" y="4687469"/>
                </a:moveTo>
                <a:lnTo>
                  <a:pt x="6396" y="4687469"/>
                </a:lnTo>
                <a:lnTo>
                  <a:pt x="0" y="4693866"/>
                </a:lnTo>
                <a:lnTo>
                  <a:pt x="0" y="4709676"/>
                </a:lnTo>
                <a:lnTo>
                  <a:pt x="6396" y="4716073"/>
                </a:lnTo>
                <a:lnTo>
                  <a:pt x="22179" y="4716073"/>
                </a:lnTo>
                <a:lnTo>
                  <a:pt x="28575" y="4709676"/>
                </a:lnTo>
                <a:lnTo>
                  <a:pt x="28575" y="4693866"/>
                </a:lnTo>
                <a:lnTo>
                  <a:pt x="22179" y="4687469"/>
                </a:lnTo>
                <a:close/>
              </a:path>
              <a:path w="28575" h="5173980">
                <a:moveTo>
                  <a:pt x="22179" y="4801798"/>
                </a:moveTo>
                <a:lnTo>
                  <a:pt x="6396" y="4801798"/>
                </a:lnTo>
                <a:lnTo>
                  <a:pt x="0" y="4808194"/>
                </a:lnTo>
                <a:lnTo>
                  <a:pt x="0" y="4824005"/>
                </a:lnTo>
                <a:lnTo>
                  <a:pt x="6396" y="4830401"/>
                </a:lnTo>
                <a:lnTo>
                  <a:pt x="22179" y="4830401"/>
                </a:lnTo>
                <a:lnTo>
                  <a:pt x="28575" y="4824005"/>
                </a:lnTo>
                <a:lnTo>
                  <a:pt x="28575" y="4808194"/>
                </a:lnTo>
                <a:lnTo>
                  <a:pt x="22179" y="4801798"/>
                </a:lnTo>
                <a:close/>
              </a:path>
              <a:path w="28575" h="5173980">
                <a:moveTo>
                  <a:pt x="22179" y="4916126"/>
                </a:moveTo>
                <a:lnTo>
                  <a:pt x="6396" y="4916126"/>
                </a:lnTo>
                <a:lnTo>
                  <a:pt x="0" y="4922523"/>
                </a:lnTo>
                <a:lnTo>
                  <a:pt x="0" y="4938333"/>
                </a:lnTo>
                <a:lnTo>
                  <a:pt x="6396" y="4944730"/>
                </a:lnTo>
                <a:lnTo>
                  <a:pt x="22179" y="4944730"/>
                </a:lnTo>
                <a:lnTo>
                  <a:pt x="28575" y="4938333"/>
                </a:lnTo>
                <a:lnTo>
                  <a:pt x="28575" y="4922523"/>
                </a:lnTo>
                <a:lnTo>
                  <a:pt x="22179" y="4916126"/>
                </a:lnTo>
                <a:close/>
              </a:path>
              <a:path w="28575" h="5173980">
                <a:moveTo>
                  <a:pt x="22179" y="5030455"/>
                </a:moveTo>
                <a:lnTo>
                  <a:pt x="6396" y="5030455"/>
                </a:lnTo>
                <a:lnTo>
                  <a:pt x="0" y="5036851"/>
                </a:lnTo>
                <a:lnTo>
                  <a:pt x="0" y="5052662"/>
                </a:lnTo>
                <a:lnTo>
                  <a:pt x="6396" y="5059058"/>
                </a:lnTo>
                <a:lnTo>
                  <a:pt x="22179" y="5059058"/>
                </a:lnTo>
                <a:lnTo>
                  <a:pt x="28575" y="5052662"/>
                </a:lnTo>
                <a:lnTo>
                  <a:pt x="28575" y="5036851"/>
                </a:lnTo>
                <a:lnTo>
                  <a:pt x="22179" y="5030455"/>
                </a:lnTo>
                <a:close/>
              </a:path>
              <a:path w="28575" h="5173980">
                <a:moveTo>
                  <a:pt x="22179" y="5144783"/>
                </a:moveTo>
                <a:lnTo>
                  <a:pt x="6396" y="5144783"/>
                </a:lnTo>
                <a:lnTo>
                  <a:pt x="0" y="5151180"/>
                </a:lnTo>
                <a:lnTo>
                  <a:pt x="0" y="5166990"/>
                </a:lnTo>
                <a:lnTo>
                  <a:pt x="6396" y="5173387"/>
                </a:lnTo>
                <a:lnTo>
                  <a:pt x="22179" y="5173387"/>
                </a:lnTo>
                <a:lnTo>
                  <a:pt x="28575" y="5166990"/>
                </a:lnTo>
                <a:lnTo>
                  <a:pt x="28575" y="5151180"/>
                </a:lnTo>
                <a:lnTo>
                  <a:pt x="22179" y="5144783"/>
                </a:lnTo>
                <a:close/>
              </a:path>
            </a:pathLst>
          </a:custGeom>
          <a:solidFill>
            <a:srgbClr val="1A6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8270387" y="1363004"/>
            <a:ext cx="28575" cy="5173980"/>
          </a:xfrm>
          <a:custGeom>
            <a:avLst/>
            <a:gdLst/>
            <a:ahLst/>
            <a:cxnLst/>
            <a:rect l="l" t="t" r="r" b="b"/>
            <a:pathLst>
              <a:path w="28575" h="5173980">
                <a:moveTo>
                  <a:pt x="22178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22207"/>
                </a:lnTo>
                <a:lnTo>
                  <a:pt x="6396" y="28602"/>
                </a:lnTo>
                <a:lnTo>
                  <a:pt x="22178" y="28602"/>
                </a:lnTo>
                <a:lnTo>
                  <a:pt x="28575" y="22207"/>
                </a:lnTo>
                <a:lnTo>
                  <a:pt x="28575" y="6396"/>
                </a:lnTo>
                <a:lnTo>
                  <a:pt x="22178" y="0"/>
                </a:lnTo>
                <a:close/>
              </a:path>
              <a:path w="28575" h="5173980">
                <a:moveTo>
                  <a:pt x="22178" y="114327"/>
                </a:moveTo>
                <a:lnTo>
                  <a:pt x="6396" y="114327"/>
                </a:lnTo>
                <a:lnTo>
                  <a:pt x="0" y="120724"/>
                </a:lnTo>
                <a:lnTo>
                  <a:pt x="0" y="136535"/>
                </a:lnTo>
                <a:lnTo>
                  <a:pt x="6396" y="142932"/>
                </a:lnTo>
                <a:lnTo>
                  <a:pt x="22178" y="142932"/>
                </a:lnTo>
                <a:lnTo>
                  <a:pt x="28575" y="136535"/>
                </a:lnTo>
                <a:lnTo>
                  <a:pt x="28575" y="120724"/>
                </a:lnTo>
                <a:lnTo>
                  <a:pt x="22178" y="114327"/>
                </a:lnTo>
                <a:close/>
              </a:path>
              <a:path w="28575" h="5173980">
                <a:moveTo>
                  <a:pt x="22178" y="228657"/>
                </a:moveTo>
                <a:lnTo>
                  <a:pt x="6396" y="228657"/>
                </a:lnTo>
                <a:lnTo>
                  <a:pt x="0" y="235054"/>
                </a:lnTo>
                <a:lnTo>
                  <a:pt x="0" y="250864"/>
                </a:lnTo>
                <a:lnTo>
                  <a:pt x="6396" y="257260"/>
                </a:lnTo>
                <a:lnTo>
                  <a:pt x="22179" y="257260"/>
                </a:lnTo>
                <a:lnTo>
                  <a:pt x="28575" y="250864"/>
                </a:lnTo>
                <a:lnTo>
                  <a:pt x="28575" y="235054"/>
                </a:lnTo>
                <a:lnTo>
                  <a:pt x="22178" y="228657"/>
                </a:lnTo>
                <a:close/>
              </a:path>
              <a:path w="28575" h="5173980">
                <a:moveTo>
                  <a:pt x="22179" y="342985"/>
                </a:moveTo>
                <a:lnTo>
                  <a:pt x="6396" y="342985"/>
                </a:lnTo>
                <a:lnTo>
                  <a:pt x="0" y="349382"/>
                </a:lnTo>
                <a:lnTo>
                  <a:pt x="0" y="365192"/>
                </a:lnTo>
                <a:lnTo>
                  <a:pt x="6396" y="371589"/>
                </a:lnTo>
                <a:lnTo>
                  <a:pt x="22179" y="371589"/>
                </a:lnTo>
                <a:lnTo>
                  <a:pt x="28575" y="365192"/>
                </a:lnTo>
                <a:lnTo>
                  <a:pt x="28575" y="349382"/>
                </a:lnTo>
                <a:lnTo>
                  <a:pt x="22179" y="342985"/>
                </a:lnTo>
                <a:close/>
              </a:path>
              <a:path w="28575" h="5173980">
                <a:moveTo>
                  <a:pt x="22179" y="457314"/>
                </a:moveTo>
                <a:lnTo>
                  <a:pt x="6396" y="457314"/>
                </a:lnTo>
                <a:lnTo>
                  <a:pt x="0" y="463711"/>
                </a:lnTo>
                <a:lnTo>
                  <a:pt x="0" y="479521"/>
                </a:lnTo>
                <a:lnTo>
                  <a:pt x="6396" y="485917"/>
                </a:lnTo>
                <a:lnTo>
                  <a:pt x="22179" y="485917"/>
                </a:lnTo>
                <a:lnTo>
                  <a:pt x="28575" y="479521"/>
                </a:lnTo>
                <a:lnTo>
                  <a:pt x="28575" y="463711"/>
                </a:lnTo>
                <a:lnTo>
                  <a:pt x="22179" y="457314"/>
                </a:lnTo>
                <a:close/>
              </a:path>
              <a:path w="28575" h="5173980">
                <a:moveTo>
                  <a:pt x="22179" y="571642"/>
                </a:moveTo>
                <a:lnTo>
                  <a:pt x="6396" y="571642"/>
                </a:lnTo>
                <a:lnTo>
                  <a:pt x="0" y="578039"/>
                </a:lnTo>
                <a:lnTo>
                  <a:pt x="0" y="593849"/>
                </a:lnTo>
                <a:lnTo>
                  <a:pt x="6396" y="600246"/>
                </a:lnTo>
                <a:lnTo>
                  <a:pt x="22179" y="600246"/>
                </a:lnTo>
                <a:lnTo>
                  <a:pt x="28575" y="593849"/>
                </a:lnTo>
                <a:lnTo>
                  <a:pt x="28575" y="578039"/>
                </a:lnTo>
                <a:lnTo>
                  <a:pt x="22179" y="571642"/>
                </a:lnTo>
                <a:close/>
              </a:path>
              <a:path w="28575" h="5173980">
                <a:moveTo>
                  <a:pt x="22179" y="685971"/>
                </a:moveTo>
                <a:lnTo>
                  <a:pt x="6396" y="685971"/>
                </a:lnTo>
                <a:lnTo>
                  <a:pt x="0" y="692368"/>
                </a:lnTo>
                <a:lnTo>
                  <a:pt x="0" y="708178"/>
                </a:lnTo>
                <a:lnTo>
                  <a:pt x="6396" y="714574"/>
                </a:lnTo>
                <a:lnTo>
                  <a:pt x="22179" y="714574"/>
                </a:lnTo>
                <a:lnTo>
                  <a:pt x="28575" y="708178"/>
                </a:lnTo>
                <a:lnTo>
                  <a:pt x="28575" y="692368"/>
                </a:lnTo>
                <a:lnTo>
                  <a:pt x="22179" y="685971"/>
                </a:lnTo>
                <a:close/>
              </a:path>
              <a:path w="28575" h="5173980">
                <a:moveTo>
                  <a:pt x="22179" y="800299"/>
                </a:moveTo>
                <a:lnTo>
                  <a:pt x="6396" y="800299"/>
                </a:lnTo>
                <a:lnTo>
                  <a:pt x="0" y="806696"/>
                </a:lnTo>
                <a:lnTo>
                  <a:pt x="0" y="822506"/>
                </a:lnTo>
                <a:lnTo>
                  <a:pt x="6396" y="828903"/>
                </a:lnTo>
                <a:lnTo>
                  <a:pt x="22179" y="828903"/>
                </a:lnTo>
                <a:lnTo>
                  <a:pt x="28575" y="822506"/>
                </a:lnTo>
                <a:lnTo>
                  <a:pt x="28575" y="806696"/>
                </a:lnTo>
                <a:lnTo>
                  <a:pt x="22179" y="800299"/>
                </a:lnTo>
                <a:close/>
              </a:path>
              <a:path w="28575" h="5173980">
                <a:moveTo>
                  <a:pt x="22179" y="914628"/>
                </a:moveTo>
                <a:lnTo>
                  <a:pt x="6396" y="914628"/>
                </a:lnTo>
                <a:lnTo>
                  <a:pt x="0" y="921025"/>
                </a:lnTo>
                <a:lnTo>
                  <a:pt x="0" y="936835"/>
                </a:lnTo>
                <a:lnTo>
                  <a:pt x="6396" y="943231"/>
                </a:lnTo>
                <a:lnTo>
                  <a:pt x="22179" y="943231"/>
                </a:lnTo>
                <a:lnTo>
                  <a:pt x="28575" y="936835"/>
                </a:lnTo>
                <a:lnTo>
                  <a:pt x="28575" y="921025"/>
                </a:lnTo>
                <a:lnTo>
                  <a:pt x="22179" y="914628"/>
                </a:lnTo>
                <a:close/>
              </a:path>
              <a:path w="28575" h="5173980">
                <a:moveTo>
                  <a:pt x="22179" y="1028956"/>
                </a:moveTo>
                <a:lnTo>
                  <a:pt x="6396" y="1028956"/>
                </a:lnTo>
                <a:lnTo>
                  <a:pt x="0" y="1035353"/>
                </a:lnTo>
                <a:lnTo>
                  <a:pt x="0" y="1051163"/>
                </a:lnTo>
                <a:lnTo>
                  <a:pt x="6396" y="1057560"/>
                </a:lnTo>
                <a:lnTo>
                  <a:pt x="22179" y="1057560"/>
                </a:lnTo>
                <a:lnTo>
                  <a:pt x="28575" y="1051163"/>
                </a:lnTo>
                <a:lnTo>
                  <a:pt x="28575" y="1035353"/>
                </a:lnTo>
                <a:lnTo>
                  <a:pt x="22179" y="1028956"/>
                </a:lnTo>
                <a:close/>
              </a:path>
              <a:path w="28575" h="5173980">
                <a:moveTo>
                  <a:pt x="22179" y="1143285"/>
                </a:moveTo>
                <a:lnTo>
                  <a:pt x="6396" y="1143285"/>
                </a:lnTo>
                <a:lnTo>
                  <a:pt x="0" y="1149682"/>
                </a:lnTo>
                <a:lnTo>
                  <a:pt x="0" y="1165491"/>
                </a:lnTo>
                <a:lnTo>
                  <a:pt x="6396" y="1171888"/>
                </a:lnTo>
                <a:lnTo>
                  <a:pt x="22179" y="1171888"/>
                </a:lnTo>
                <a:lnTo>
                  <a:pt x="28575" y="1165491"/>
                </a:lnTo>
                <a:lnTo>
                  <a:pt x="28575" y="1149682"/>
                </a:lnTo>
                <a:lnTo>
                  <a:pt x="22179" y="1143285"/>
                </a:lnTo>
                <a:close/>
              </a:path>
              <a:path w="28575" h="5173980">
                <a:moveTo>
                  <a:pt x="22179" y="1257613"/>
                </a:moveTo>
                <a:lnTo>
                  <a:pt x="6396" y="1257613"/>
                </a:lnTo>
                <a:lnTo>
                  <a:pt x="0" y="1264010"/>
                </a:lnTo>
                <a:lnTo>
                  <a:pt x="0" y="1279820"/>
                </a:lnTo>
                <a:lnTo>
                  <a:pt x="6396" y="1286217"/>
                </a:lnTo>
                <a:lnTo>
                  <a:pt x="22179" y="1286217"/>
                </a:lnTo>
                <a:lnTo>
                  <a:pt x="28575" y="1279820"/>
                </a:lnTo>
                <a:lnTo>
                  <a:pt x="28575" y="1264010"/>
                </a:lnTo>
                <a:lnTo>
                  <a:pt x="22179" y="1257613"/>
                </a:lnTo>
                <a:close/>
              </a:path>
              <a:path w="28575" h="5173980">
                <a:moveTo>
                  <a:pt x="22179" y="1371942"/>
                </a:moveTo>
                <a:lnTo>
                  <a:pt x="6396" y="1371942"/>
                </a:lnTo>
                <a:lnTo>
                  <a:pt x="0" y="1378339"/>
                </a:lnTo>
                <a:lnTo>
                  <a:pt x="0" y="1394150"/>
                </a:lnTo>
                <a:lnTo>
                  <a:pt x="6396" y="1400545"/>
                </a:lnTo>
                <a:lnTo>
                  <a:pt x="22179" y="1400545"/>
                </a:lnTo>
                <a:lnTo>
                  <a:pt x="28575" y="1394150"/>
                </a:lnTo>
                <a:lnTo>
                  <a:pt x="28575" y="1378339"/>
                </a:lnTo>
                <a:lnTo>
                  <a:pt x="22179" y="1371942"/>
                </a:lnTo>
                <a:close/>
              </a:path>
              <a:path w="28575" h="5173980">
                <a:moveTo>
                  <a:pt x="22179" y="1486270"/>
                </a:moveTo>
                <a:lnTo>
                  <a:pt x="6396" y="1486270"/>
                </a:lnTo>
                <a:lnTo>
                  <a:pt x="0" y="1492667"/>
                </a:lnTo>
                <a:lnTo>
                  <a:pt x="0" y="1508478"/>
                </a:lnTo>
                <a:lnTo>
                  <a:pt x="6396" y="1514875"/>
                </a:lnTo>
                <a:lnTo>
                  <a:pt x="22179" y="1514875"/>
                </a:lnTo>
                <a:lnTo>
                  <a:pt x="28575" y="1508478"/>
                </a:lnTo>
                <a:lnTo>
                  <a:pt x="28575" y="1492667"/>
                </a:lnTo>
                <a:lnTo>
                  <a:pt x="22179" y="1486270"/>
                </a:lnTo>
                <a:close/>
              </a:path>
              <a:path w="28575" h="5173980">
                <a:moveTo>
                  <a:pt x="22179" y="1600600"/>
                </a:moveTo>
                <a:lnTo>
                  <a:pt x="6396" y="1600600"/>
                </a:lnTo>
                <a:lnTo>
                  <a:pt x="0" y="1606997"/>
                </a:lnTo>
                <a:lnTo>
                  <a:pt x="1" y="1622807"/>
                </a:lnTo>
                <a:lnTo>
                  <a:pt x="6396" y="1629202"/>
                </a:lnTo>
                <a:lnTo>
                  <a:pt x="22179" y="1629202"/>
                </a:lnTo>
                <a:lnTo>
                  <a:pt x="28576" y="1622807"/>
                </a:lnTo>
                <a:lnTo>
                  <a:pt x="28575" y="1606997"/>
                </a:lnTo>
                <a:lnTo>
                  <a:pt x="22179" y="1600600"/>
                </a:lnTo>
                <a:close/>
              </a:path>
              <a:path w="28575" h="5173980">
                <a:moveTo>
                  <a:pt x="22179" y="1714927"/>
                </a:moveTo>
                <a:lnTo>
                  <a:pt x="6396" y="1714927"/>
                </a:lnTo>
                <a:lnTo>
                  <a:pt x="1" y="1721324"/>
                </a:lnTo>
                <a:lnTo>
                  <a:pt x="1" y="1737135"/>
                </a:lnTo>
                <a:lnTo>
                  <a:pt x="6396" y="1743532"/>
                </a:lnTo>
                <a:lnTo>
                  <a:pt x="22179" y="1743532"/>
                </a:lnTo>
                <a:lnTo>
                  <a:pt x="28576" y="1737135"/>
                </a:lnTo>
                <a:lnTo>
                  <a:pt x="28576" y="1721324"/>
                </a:lnTo>
                <a:lnTo>
                  <a:pt x="22179" y="1714927"/>
                </a:lnTo>
                <a:close/>
              </a:path>
              <a:path w="28575" h="5173980">
                <a:moveTo>
                  <a:pt x="22179" y="1829257"/>
                </a:moveTo>
                <a:lnTo>
                  <a:pt x="6396" y="1829257"/>
                </a:lnTo>
                <a:lnTo>
                  <a:pt x="1" y="1835654"/>
                </a:lnTo>
                <a:lnTo>
                  <a:pt x="1" y="1851464"/>
                </a:lnTo>
                <a:lnTo>
                  <a:pt x="6396" y="1857861"/>
                </a:lnTo>
                <a:lnTo>
                  <a:pt x="22179" y="1857861"/>
                </a:lnTo>
                <a:lnTo>
                  <a:pt x="28576" y="1851464"/>
                </a:lnTo>
                <a:lnTo>
                  <a:pt x="28576" y="1835654"/>
                </a:lnTo>
                <a:lnTo>
                  <a:pt x="22179" y="1829257"/>
                </a:lnTo>
                <a:close/>
              </a:path>
              <a:path w="28575" h="5173980">
                <a:moveTo>
                  <a:pt x="22179" y="1943586"/>
                </a:moveTo>
                <a:lnTo>
                  <a:pt x="6396" y="1943586"/>
                </a:lnTo>
                <a:lnTo>
                  <a:pt x="1" y="1949982"/>
                </a:lnTo>
                <a:lnTo>
                  <a:pt x="1" y="1965792"/>
                </a:lnTo>
                <a:lnTo>
                  <a:pt x="6396" y="1972189"/>
                </a:lnTo>
                <a:lnTo>
                  <a:pt x="22179" y="1972189"/>
                </a:lnTo>
                <a:lnTo>
                  <a:pt x="28576" y="1965792"/>
                </a:lnTo>
                <a:lnTo>
                  <a:pt x="28576" y="1949982"/>
                </a:lnTo>
                <a:lnTo>
                  <a:pt x="22179" y="1943586"/>
                </a:lnTo>
                <a:close/>
              </a:path>
              <a:path w="28575" h="5173980">
                <a:moveTo>
                  <a:pt x="22179" y="2057914"/>
                </a:moveTo>
                <a:lnTo>
                  <a:pt x="6396" y="2057914"/>
                </a:lnTo>
                <a:lnTo>
                  <a:pt x="1" y="2064311"/>
                </a:lnTo>
                <a:lnTo>
                  <a:pt x="1" y="2080121"/>
                </a:lnTo>
                <a:lnTo>
                  <a:pt x="6396" y="2086518"/>
                </a:lnTo>
                <a:lnTo>
                  <a:pt x="22179" y="2086518"/>
                </a:lnTo>
                <a:lnTo>
                  <a:pt x="28576" y="2080121"/>
                </a:lnTo>
                <a:lnTo>
                  <a:pt x="28576" y="2064311"/>
                </a:lnTo>
                <a:lnTo>
                  <a:pt x="22179" y="2057914"/>
                </a:lnTo>
                <a:close/>
              </a:path>
              <a:path w="28575" h="5173980">
                <a:moveTo>
                  <a:pt x="22179" y="2172243"/>
                </a:moveTo>
                <a:lnTo>
                  <a:pt x="6396" y="2172243"/>
                </a:lnTo>
                <a:lnTo>
                  <a:pt x="1" y="2178639"/>
                </a:lnTo>
                <a:lnTo>
                  <a:pt x="1" y="2194449"/>
                </a:lnTo>
                <a:lnTo>
                  <a:pt x="6396" y="2200846"/>
                </a:lnTo>
                <a:lnTo>
                  <a:pt x="22179" y="2200846"/>
                </a:lnTo>
                <a:lnTo>
                  <a:pt x="28576" y="2194449"/>
                </a:lnTo>
                <a:lnTo>
                  <a:pt x="28576" y="2178639"/>
                </a:lnTo>
                <a:lnTo>
                  <a:pt x="22179" y="2172243"/>
                </a:lnTo>
                <a:close/>
              </a:path>
              <a:path w="28575" h="5173980">
                <a:moveTo>
                  <a:pt x="22179" y="2286571"/>
                </a:moveTo>
                <a:lnTo>
                  <a:pt x="6396" y="2286571"/>
                </a:lnTo>
                <a:lnTo>
                  <a:pt x="1" y="2292968"/>
                </a:lnTo>
                <a:lnTo>
                  <a:pt x="1" y="2308778"/>
                </a:lnTo>
                <a:lnTo>
                  <a:pt x="6396" y="2315174"/>
                </a:lnTo>
                <a:lnTo>
                  <a:pt x="22179" y="2315174"/>
                </a:lnTo>
                <a:lnTo>
                  <a:pt x="28576" y="2308778"/>
                </a:lnTo>
                <a:lnTo>
                  <a:pt x="28576" y="2292968"/>
                </a:lnTo>
                <a:lnTo>
                  <a:pt x="22179" y="2286571"/>
                </a:lnTo>
                <a:close/>
              </a:path>
              <a:path w="28575" h="5173980">
                <a:moveTo>
                  <a:pt x="22179" y="2400899"/>
                </a:moveTo>
                <a:lnTo>
                  <a:pt x="6396" y="2400899"/>
                </a:lnTo>
                <a:lnTo>
                  <a:pt x="1" y="2407296"/>
                </a:lnTo>
                <a:lnTo>
                  <a:pt x="1" y="2423106"/>
                </a:lnTo>
                <a:lnTo>
                  <a:pt x="6396" y="2429503"/>
                </a:lnTo>
                <a:lnTo>
                  <a:pt x="22179" y="2429503"/>
                </a:lnTo>
                <a:lnTo>
                  <a:pt x="28576" y="2423106"/>
                </a:lnTo>
                <a:lnTo>
                  <a:pt x="28576" y="2407296"/>
                </a:lnTo>
                <a:lnTo>
                  <a:pt x="22179" y="2400899"/>
                </a:lnTo>
                <a:close/>
              </a:path>
              <a:path w="28575" h="5173980">
                <a:moveTo>
                  <a:pt x="22179" y="2515228"/>
                </a:moveTo>
                <a:lnTo>
                  <a:pt x="6396" y="2515228"/>
                </a:lnTo>
                <a:lnTo>
                  <a:pt x="1" y="2521625"/>
                </a:lnTo>
                <a:lnTo>
                  <a:pt x="1" y="2537435"/>
                </a:lnTo>
                <a:lnTo>
                  <a:pt x="6396" y="2543831"/>
                </a:lnTo>
                <a:lnTo>
                  <a:pt x="22179" y="2543831"/>
                </a:lnTo>
                <a:lnTo>
                  <a:pt x="28576" y="2537435"/>
                </a:lnTo>
                <a:lnTo>
                  <a:pt x="28576" y="2521625"/>
                </a:lnTo>
                <a:lnTo>
                  <a:pt x="22179" y="2515228"/>
                </a:lnTo>
                <a:close/>
              </a:path>
              <a:path w="28575" h="5173980">
                <a:moveTo>
                  <a:pt x="22179" y="2629556"/>
                </a:moveTo>
                <a:lnTo>
                  <a:pt x="6396" y="2629556"/>
                </a:lnTo>
                <a:lnTo>
                  <a:pt x="1" y="2635953"/>
                </a:lnTo>
                <a:lnTo>
                  <a:pt x="1" y="2651763"/>
                </a:lnTo>
                <a:lnTo>
                  <a:pt x="6396" y="2658160"/>
                </a:lnTo>
                <a:lnTo>
                  <a:pt x="22179" y="2658160"/>
                </a:lnTo>
                <a:lnTo>
                  <a:pt x="28576" y="2651763"/>
                </a:lnTo>
                <a:lnTo>
                  <a:pt x="28576" y="2635953"/>
                </a:lnTo>
                <a:lnTo>
                  <a:pt x="22179" y="2629556"/>
                </a:lnTo>
                <a:close/>
              </a:path>
              <a:path w="28575" h="5173980">
                <a:moveTo>
                  <a:pt x="22179" y="2743885"/>
                </a:moveTo>
                <a:lnTo>
                  <a:pt x="6396" y="2743885"/>
                </a:lnTo>
                <a:lnTo>
                  <a:pt x="1" y="2750282"/>
                </a:lnTo>
                <a:lnTo>
                  <a:pt x="1" y="2766091"/>
                </a:lnTo>
                <a:lnTo>
                  <a:pt x="6396" y="2772488"/>
                </a:lnTo>
                <a:lnTo>
                  <a:pt x="22179" y="2772488"/>
                </a:lnTo>
                <a:lnTo>
                  <a:pt x="28576" y="2766091"/>
                </a:lnTo>
                <a:lnTo>
                  <a:pt x="28576" y="2750282"/>
                </a:lnTo>
                <a:lnTo>
                  <a:pt x="22179" y="2743885"/>
                </a:lnTo>
                <a:close/>
              </a:path>
              <a:path w="28575" h="5173980">
                <a:moveTo>
                  <a:pt x="22179" y="2858213"/>
                </a:moveTo>
                <a:lnTo>
                  <a:pt x="6396" y="2858213"/>
                </a:lnTo>
                <a:lnTo>
                  <a:pt x="1" y="2864610"/>
                </a:lnTo>
                <a:lnTo>
                  <a:pt x="1" y="2880420"/>
                </a:lnTo>
                <a:lnTo>
                  <a:pt x="6396" y="2886817"/>
                </a:lnTo>
                <a:lnTo>
                  <a:pt x="22179" y="2886817"/>
                </a:lnTo>
                <a:lnTo>
                  <a:pt x="28576" y="2880420"/>
                </a:lnTo>
                <a:lnTo>
                  <a:pt x="28576" y="2864610"/>
                </a:lnTo>
                <a:lnTo>
                  <a:pt x="22179" y="2858213"/>
                </a:lnTo>
                <a:close/>
              </a:path>
              <a:path w="28575" h="5173980">
                <a:moveTo>
                  <a:pt x="22179" y="2972542"/>
                </a:moveTo>
                <a:lnTo>
                  <a:pt x="6398" y="2972542"/>
                </a:lnTo>
                <a:lnTo>
                  <a:pt x="1" y="2978938"/>
                </a:lnTo>
                <a:lnTo>
                  <a:pt x="1" y="2994748"/>
                </a:lnTo>
                <a:lnTo>
                  <a:pt x="6398" y="3001145"/>
                </a:lnTo>
                <a:lnTo>
                  <a:pt x="22179" y="3001145"/>
                </a:lnTo>
                <a:lnTo>
                  <a:pt x="28576" y="2994748"/>
                </a:lnTo>
                <a:lnTo>
                  <a:pt x="28576" y="2978938"/>
                </a:lnTo>
                <a:lnTo>
                  <a:pt x="22179" y="2972542"/>
                </a:lnTo>
                <a:close/>
              </a:path>
              <a:path w="28575" h="5173980">
                <a:moveTo>
                  <a:pt x="22179" y="3086870"/>
                </a:moveTo>
                <a:lnTo>
                  <a:pt x="6398" y="3086870"/>
                </a:lnTo>
                <a:lnTo>
                  <a:pt x="1" y="3093267"/>
                </a:lnTo>
                <a:lnTo>
                  <a:pt x="1" y="3109078"/>
                </a:lnTo>
                <a:lnTo>
                  <a:pt x="6398" y="3115475"/>
                </a:lnTo>
                <a:lnTo>
                  <a:pt x="22179" y="3115475"/>
                </a:lnTo>
                <a:lnTo>
                  <a:pt x="28576" y="3109078"/>
                </a:lnTo>
                <a:lnTo>
                  <a:pt x="28576" y="3093267"/>
                </a:lnTo>
                <a:lnTo>
                  <a:pt x="22179" y="3086870"/>
                </a:lnTo>
                <a:close/>
              </a:path>
              <a:path w="28575" h="5173980">
                <a:moveTo>
                  <a:pt x="22179" y="3201200"/>
                </a:moveTo>
                <a:lnTo>
                  <a:pt x="6398" y="3201200"/>
                </a:lnTo>
                <a:lnTo>
                  <a:pt x="1" y="3207595"/>
                </a:lnTo>
                <a:lnTo>
                  <a:pt x="1" y="3223406"/>
                </a:lnTo>
                <a:lnTo>
                  <a:pt x="6398" y="3229803"/>
                </a:lnTo>
                <a:lnTo>
                  <a:pt x="22179" y="3229803"/>
                </a:lnTo>
                <a:lnTo>
                  <a:pt x="28576" y="3223406"/>
                </a:lnTo>
                <a:lnTo>
                  <a:pt x="28576" y="3207595"/>
                </a:lnTo>
                <a:lnTo>
                  <a:pt x="22179" y="3201200"/>
                </a:lnTo>
                <a:close/>
              </a:path>
              <a:path w="28575" h="5173980">
                <a:moveTo>
                  <a:pt x="22179" y="3315528"/>
                </a:moveTo>
                <a:lnTo>
                  <a:pt x="6398" y="3315528"/>
                </a:lnTo>
                <a:lnTo>
                  <a:pt x="1" y="3321925"/>
                </a:lnTo>
                <a:lnTo>
                  <a:pt x="1" y="3337735"/>
                </a:lnTo>
                <a:lnTo>
                  <a:pt x="6398" y="3344130"/>
                </a:lnTo>
                <a:lnTo>
                  <a:pt x="22179" y="3344130"/>
                </a:lnTo>
                <a:lnTo>
                  <a:pt x="28576" y="3337735"/>
                </a:lnTo>
                <a:lnTo>
                  <a:pt x="28576" y="3321925"/>
                </a:lnTo>
                <a:lnTo>
                  <a:pt x="22179" y="3315528"/>
                </a:lnTo>
                <a:close/>
              </a:path>
              <a:path w="28575" h="5173980">
                <a:moveTo>
                  <a:pt x="22179" y="3429855"/>
                </a:moveTo>
                <a:lnTo>
                  <a:pt x="6398" y="3429855"/>
                </a:lnTo>
                <a:lnTo>
                  <a:pt x="1" y="3436252"/>
                </a:lnTo>
                <a:lnTo>
                  <a:pt x="1" y="3452063"/>
                </a:lnTo>
                <a:lnTo>
                  <a:pt x="6398" y="3458460"/>
                </a:lnTo>
                <a:lnTo>
                  <a:pt x="22179" y="3458460"/>
                </a:lnTo>
                <a:lnTo>
                  <a:pt x="28576" y="3452063"/>
                </a:lnTo>
                <a:lnTo>
                  <a:pt x="28576" y="3436252"/>
                </a:lnTo>
                <a:lnTo>
                  <a:pt x="22179" y="3429855"/>
                </a:lnTo>
                <a:close/>
              </a:path>
              <a:path w="28575" h="5173980">
                <a:moveTo>
                  <a:pt x="22179" y="3544185"/>
                </a:moveTo>
                <a:lnTo>
                  <a:pt x="6398" y="3544185"/>
                </a:lnTo>
                <a:lnTo>
                  <a:pt x="1" y="3550582"/>
                </a:lnTo>
                <a:lnTo>
                  <a:pt x="1" y="3566391"/>
                </a:lnTo>
                <a:lnTo>
                  <a:pt x="6398" y="3572788"/>
                </a:lnTo>
                <a:lnTo>
                  <a:pt x="22179" y="3572788"/>
                </a:lnTo>
                <a:lnTo>
                  <a:pt x="28576" y="3566391"/>
                </a:lnTo>
                <a:lnTo>
                  <a:pt x="28576" y="3550582"/>
                </a:lnTo>
                <a:lnTo>
                  <a:pt x="22179" y="3544185"/>
                </a:lnTo>
                <a:close/>
              </a:path>
              <a:path w="28575" h="5173980">
                <a:moveTo>
                  <a:pt x="22179" y="3658513"/>
                </a:moveTo>
                <a:lnTo>
                  <a:pt x="6398" y="3658513"/>
                </a:lnTo>
                <a:lnTo>
                  <a:pt x="1" y="3664910"/>
                </a:lnTo>
                <a:lnTo>
                  <a:pt x="1" y="3680720"/>
                </a:lnTo>
                <a:lnTo>
                  <a:pt x="6398" y="3687117"/>
                </a:lnTo>
                <a:lnTo>
                  <a:pt x="22179" y="3687117"/>
                </a:lnTo>
                <a:lnTo>
                  <a:pt x="28576" y="3680720"/>
                </a:lnTo>
                <a:lnTo>
                  <a:pt x="28576" y="3664910"/>
                </a:lnTo>
                <a:lnTo>
                  <a:pt x="22179" y="3658513"/>
                </a:lnTo>
                <a:close/>
              </a:path>
              <a:path w="28575" h="5173980">
                <a:moveTo>
                  <a:pt x="22179" y="3772842"/>
                </a:moveTo>
                <a:lnTo>
                  <a:pt x="6398" y="3772842"/>
                </a:lnTo>
                <a:lnTo>
                  <a:pt x="1" y="3779239"/>
                </a:lnTo>
                <a:lnTo>
                  <a:pt x="1" y="3795048"/>
                </a:lnTo>
                <a:lnTo>
                  <a:pt x="6398" y="3801445"/>
                </a:lnTo>
                <a:lnTo>
                  <a:pt x="22179" y="3801445"/>
                </a:lnTo>
                <a:lnTo>
                  <a:pt x="28576" y="3795048"/>
                </a:lnTo>
                <a:lnTo>
                  <a:pt x="28576" y="3779239"/>
                </a:lnTo>
                <a:lnTo>
                  <a:pt x="22179" y="3772842"/>
                </a:lnTo>
                <a:close/>
              </a:path>
              <a:path w="28575" h="5173980">
                <a:moveTo>
                  <a:pt x="22179" y="3887170"/>
                </a:moveTo>
                <a:lnTo>
                  <a:pt x="6398" y="3887170"/>
                </a:lnTo>
                <a:lnTo>
                  <a:pt x="1" y="3893567"/>
                </a:lnTo>
                <a:lnTo>
                  <a:pt x="1" y="3909377"/>
                </a:lnTo>
                <a:lnTo>
                  <a:pt x="6398" y="3915774"/>
                </a:lnTo>
                <a:lnTo>
                  <a:pt x="22179" y="3915774"/>
                </a:lnTo>
                <a:lnTo>
                  <a:pt x="28576" y="3909377"/>
                </a:lnTo>
                <a:lnTo>
                  <a:pt x="28576" y="3893567"/>
                </a:lnTo>
                <a:lnTo>
                  <a:pt x="22179" y="3887170"/>
                </a:lnTo>
                <a:close/>
              </a:path>
              <a:path w="28575" h="5173980">
                <a:moveTo>
                  <a:pt x="22179" y="4001499"/>
                </a:moveTo>
                <a:lnTo>
                  <a:pt x="6398" y="4001499"/>
                </a:lnTo>
                <a:lnTo>
                  <a:pt x="1" y="4007895"/>
                </a:lnTo>
                <a:lnTo>
                  <a:pt x="1" y="4023705"/>
                </a:lnTo>
                <a:lnTo>
                  <a:pt x="6398" y="4030102"/>
                </a:lnTo>
                <a:lnTo>
                  <a:pt x="22179" y="4030102"/>
                </a:lnTo>
                <a:lnTo>
                  <a:pt x="28576" y="4023705"/>
                </a:lnTo>
                <a:lnTo>
                  <a:pt x="28576" y="4007895"/>
                </a:lnTo>
                <a:lnTo>
                  <a:pt x="22179" y="4001499"/>
                </a:lnTo>
                <a:close/>
              </a:path>
              <a:path w="28575" h="5173980">
                <a:moveTo>
                  <a:pt x="22179" y="4115827"/>
                </a:moveTo>
                <a:lnTo>
                  <a:pt x="6398" y="4115827"/>
                </a:lnTo>
                <a:lnTo>
                  <a:pt x="1" y="4122224"/>
                </a:lnTo>
                <a:lnTo>
                  <a:pt x="1" y="4138034"/>
                </a:lnTo>
                <a:lnTo>
                  <a:pt x="6398" y="4144430"/>
                </a:lnTo>
                <a:lnTo>
                  <a:pt x="22179" y="4144430"/>
                </a:lnTo>
                <a:lnTo>
                  <a:pt x="28576" y="4138034"/>
                </a:lnTo>
                <a:lnTo>
                  <a:pt x="28576" y="4122224"/>
                </a:lnTo>
                <a:lnTo>
                  <a:pt x="22179" y="4115827"/>
                </a:lnTo>
                <a:close/>
              </a:path>
              <a:path w="28575" h="5173980">
                <a:moveTo>
                  <a:pt x="22179" y="4230155"/>
                </a:moveTo>
                <a:lnTo>
                  <a:pt x="6398" y="4230155"/>
                </a:lnTo>
                <a:lnTo>
                  <a:pt x="1" y="4236552"/>
                </a:lnTo>
                <a:lnTo>
                  <a:pt x="1" y="4252362"/>
                </a:lnTo>
                <a:lnTo>
                  <a:pt x="6398" y="4258759"/>
                </a:lnTo>
                <a:lnTo>
                  <a:pt x="22179" y="4258759"/>
                </a:lnTo>
                <a:lnTo>
                  <a:pt x="28576" y="4252362"/>
                </a:lnTo>
                <a:lnTo>
                  <a:pt x="28576" y="4236552"/>
                </a:lnTo>
                <a:lnTo>
                  <a:pt x="22179" y="4230155"/>
                </a:lnTo>
                <a:close/>
              </a:path>
              <a:path w="28575" h="5173980">
                <a:moveTo>
                  <a:pt x="22179" y="4344484"/>
                </a:moveTo>
                <a:lnTo>
                  <a:pt x="6398" y="4344484"/>
                </a:lnTo>
                <a:lnTo>
                  <a:pt x="1" y="4350880"/>
                </a:lnTo>
                <a:lnTo>
                  <a:pt x="1" y="4366691"/>
                </a:lnTo>
                <a:lnTo>
                  <a:pt x="6398" y="4373087"/>
                </a:lnTo>
                <a:lnTo>
                  <a:pt x="22179" y="4373087"/>
                </a:lnTo>
                <a:lnTo>
                  <a:pt x="28576" y="4366691"/>
                </a:lnTo>
                <a:lnTo>
                  <a:pt x="28576" y="4350880"/>
                </a:lnTo>
                <a:lnTo>
                  <a:pt x="22179" y="4344484"/>
                </a:lnTo>
                <a:close/>
              </a:path>
              <a:path w="28575" h="5173980">
                <a:moveTo>
                  <a:pt x="22179" y="4458812"/>
                </a:moveTo>
                <a:lnTo>
                  <a:pt x="6398" y="4458812"/>
                </a:lnTo>
                <a:lnTo>
                  <a:pt x="1" y="4465209"/>
                </a:lnTo>
                <a:lnTo>
                  <a:pt x="1" y="4481019"/>
                </a:lnTo>
                <a:lnTo>
                  <a:pt x="6398" y="4487416"/>
                </a:lnTo>
                <a:lnTo>
                  <a:pt x="22179" y="4487416"/>
                </a:lnTo>
                <a:lnTo>
                  <a:pt x="28576" y="4481019"/>
                </a:lnTo>
                <a:lnTo>
                  <a:pt x="28576" y="4465209"/>
                </a:lnTo>
                <a:lnTo>
                  <a:pt x="22179" y="4458812"/>
                </a:lnTo>
                <a:close/>
              </a:path>
              <a:path w="28575" h="5173980">
                <a:moveTo>
                  <a:pt x="22179" y="4573141"/>
                </a:moveTo>
                <a:lnTo>
                  <a:pt x="6398" y="4573141"/>
                </a:lnTo>
                <a:lnTo>
                  <a:pt x="1" y="4579537"/>
                </a:lnTo>
                <a:lnTo>
                  <a:pt x="1" y="4595348"/>
                </a:lnTo>
                <a:lnTo>
                  <a:pt x="6398" y="4601744"/>
                </a:lnTo>
                <a:lnTo>
                  <a:pt x="22179" y="4601744"/>
                </a:lnTo>
                <a:lnTo>
                  <a:pt x="28576" y="4595348"/>
                </a:lnTo>
                <a:lnTo>
                  <a:pt x="28576" y="4579537"/>
                </a:lnTo>
                <a:lnTo>
                  <a:pt x="22179" y="4573141"/>
                </a:lnTo>
                <a:close/>
              </a:path>
              <a:path w="28575" h="5173980">
                <a:moveTo>
                  <a:pt x="22179" y="4687469"/>
                </a:moveTo>
                <a:lnTo>
                  <a:pt x="6398" y="4687469"/>
                </a:lnTo>
                <a:lnTo>
                  <a:pt x="1" y="4693866"/>
                </a:lnTo>
                <a:lnTo>
                  <a:pt x="1" y="4709676"/>
                </a:lnTo>
                <a:lnTo>
                  <a:pt x="6398" y="4716073"/>
                </a:lnTo>
                <a:lnTo>
                  <a:pt x="22179" y="4716073"/>
                </a:lnTo>
                <a:lnTo>
                  <a:pt x="28576" y="4709676"/>
                </a:lnTo>
                <a:lnTo>
                  <a:pt x="28576" y="4693866"/>
                </a:lnTo>
                <a:lnTo>
                  <a:pt x="22179" y="4687469"/>
                </a:lnTo>
                <a:close/>
              </a:path>
              <a:path w="28575" h="5173980">
                <a:moveTo>
                  <a:pt x="22179" y="4801798"/>
                </a:moveTo>
                <a:lnTo>
                  <a:pt x="6398" y="4801798"/>
                </a:lnTo>
                <a:lnTo>
                  <a:pt x="1" y="4808194"/>
                </a:lnTo>
                <a:lnTo>
                  <a:pt x="1" y="4824005"/>
                </a:lnTo>
                <a:lnTo>
                  <a:pt x="6398" y="4830401"/>
                </a:lnTo>
                <a:lnTo>
                  <a:pt x="22179" y="4830401"/>
                </a:lnTo>
                <a:lnTo>
                  <a:pt x="28576" y="4824005"/>
                </a:lnTo>
                <a:lnTo>
                  <a:pt x="28576" y="4808194"/>
                </a:lnTo>
                <a:lnTo>
                  <a:pt x="22179" y="4801798"/>
                </a:lnTo>
                <a:close/>
              </a:path>
              <a:path w="28575" h="5173980">
                <a:moveTo>
                  <a:pt x="22179" y="4916126"/>
                </a:moveTo>
                <a:lnTo>
                  <a:pt x="6398" y="4916126"/>
                </a:lnTo>
                <a:lnTo>
                  <a:pt x="1" y="4922523"/>
                </a:lnTo>
                <a:lnTo>
                  <a:pt x="1" y="4938333"/>
                </a:lnTo>
                <a:lnTo>
                  <a:pt x="6398" y="4944730"/>
                </a:lnTo>
                <a:lnTo>
                  <a:pt x="22179" y="4944730"/>
                </a:lnTo>
                <a:lnTo>
                  <a:pt x="28576" y="4938333"/>
                </a:lnTo>
                <a:lnTo>
                  <a:pt x="28576" y="4922523"/>
                </a:lnTo>
                <a:lnTo>
                  <a:pt x="22179" y="4916126"/>
                </a:lnTo>
                <a:close/>
              </a:path>
              <a:path w="28575" h="5173980">
                <a:moveTo>
                  <a:pt x="22179" y="5030455"/>
                </a:moveTo>
                <a:lnTo>
                  <a:pt x="6398" y="5030455"/>
                </a:lnTo>
                <a:lnTo>
                  <a:pt x="1" y="5036851"/>
                </a:lnTo>
                <a:lnTo>
                  <a:pt x="1" y="5052662"/>
                </a:lnTo>
                <a:lnTo>
                  <a:pt x="6398" y="5059058"/>
                </a:lnTo>
                <a:lnTo>
                  <a:pt x="22179" y="5059058"/>
                </a:lnTo>
                <a:lnTo>
                  <a:pt x="28576" y="5052662"/>
                </a:lnTo>
                <a:lnTo>
                  <a:pt x="28576" y="5036851"/>
                </a:lnTo>
                <a:lnTo>
                  <a:pt x="22179" y="5030455"/>
                </a:lnTo>
                <a:close/>
              </a:path>
              <a:path w="28575" h="5173980">
                <a:moveTo>
                  <a:pt x="22179" y="5144783"/>
                </a:moveTo>
                <a:lnTo>
                  <a:pt x="6398" y="5144783"/>
                </a:lnTo>
                <a:lnTo>
                  <a:pt x="1" y="5151180"/>
                </a:lnTo>
                <a:lnTo>
                  <a:pt x="1" y="5166990"/>
                </a:lnTo>
                <a:lnTo>
                  <a:pt x="6398" y="5173387"/>
                </a:lnTo>
                <a:lnTo>
                  <a:pt x="22179" y="5173387"/>
                </a:lnTo>
                <a:lnTo>
                  <a:pt x="28576" y="5166990"/>
                </a:lnTo>
                <a:lnTo>
                  <a:pt x="28576" y="5151180"/>
                </a:lnTo>
                <a:lnTo>
                  <a:pt x="22179" y="5144783"/>
                </a:lnTo>
                <a:close/>
              </a:path>
            </a:pathLst>
          </a:custGeom>
          <a:solidFill>
            <a:srgbClr val="1A6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333419" y="1250924"/>
            <a:ext cx="28575" cy="5288280"/>
          </a:xfrm>
          <a:custGeom>
            <a:avLst/>
            <a:gdLst/>
            <a:ahLst/>
            <a:cxnLst/>
            <a:rect l="l" t="t" r="r" b="b"/>
            <a:pathLst>
              <a:path w="28575" h="5288280">
                <a:moveTo>
                  <a:pt x="22178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22207"/>
                </a:lnTo>
                <a:lnTo>
                  <a:pt x="6396" y="28602"/>
                </a:lnTo>
                <a:lnTo>
                  <a:pt x="22178" y="28602"/>
                </a:lnTo>
                <a:lnTo>
                  <a:pt x="28575" y="22207"/>
                </a:lnTo>
                <a:lnTo>
                  <a:pt x="28575" y="6396"/>
                </a:lnTo>
                <a:lnTo>
                  <a:pt x="22178" y="0"/>
                </a:lnTo>
                <a:close/>
              </a:path>
              <a:path w="28575" h="5288280">
                <a:moveTo>
                  <a:pt x="22178" y="114327"/>
                </a:moveTo>
                <a:lnTo>
                  <a:pt x="6396" y="114327"/>
                </a:lnTo>
                <a:lnTo>
                  <a:pt x="0" y="120724"/>
                </a:lnTo>
                <a:lnTo>
                  <a:pt x="0" y="136535"/>
                </a:lnTo>
                <a:lnTo>
                  <a:pt x="6396" y="142932"/>
                </a:lnTo>
                <a:lnTo>
                  <a:pt x="22178" y="142932"/>
                </a:lnTo>
                <a:lnTo>
                  <a:pt x="28575" y="136535"/>
                </a:lnTo>
                <a:lnTo>
                  <a:pt x="28575" y="120724"/>
                </a:lnTo>
                <a:lnTo>
                  <a:pt x="22178" y="114327"/>
                </a:lnTo>
                <a:close/>
              </a:path>
              <a:path w="28575" h="5288280">
                <a:moveTo>
                  <a:pt x="22178" y="228657"/>
                </a:moveTo>
                <a:lnTo>
                  <a:pt x="6396" y="228657"/>
                </a:lnTo>
                <a:lnTo>
                  <a:pt x="0" y="235054"/>
                </a:lnTo>
                <a:lnTo>
                  <a:pt x="0" y="250864"/>
                </a:lnTo>
                <a:lnTo>
                  <a:pt x="6396" y="257260"/>
                </a:lnTo>
                <a:lnTo>
                  <a:pt x="22178" y="257260"/>
                </a:lnTo>
                <a:lnTo>
                  <a:pt x="28575" y="250864"/>
                </a:lnTo>
                <a:lnTo>
                  <a:pt x="28575" y="235054"/>
                </a:lnTo>
                <a:lnTo>
                  <a:pt x="22178" y="228657"/>
                </a:lnTo>
                <a:close/>
              </a:path>
              <a:path w="28575" h="5288280">
                <a:moveTo>
                  <a:pt x="22178" y="342985"/>
                </a:moveTo>
                <a:lnTo>
                  <a:pt x="6396" y="342985"/>
                </a:lnTo>
                <a:lnTo>
                  <a:pt x="0" y="349382"/>
                </a:lnTo>
                <a:lnTo>
                  <a:pt x="0" y="365192"/>
                </a:lnTo>
                <a:lnTo>
                  <a:pt x="6396" y="371589"/>
                </a:lnTo>
                <a:lnTo>
                  <a:pt x="22178" y="371589"/>
                </a:lnTo>
                <a:lnTo>
                  <a:pt x="28575" y="365192"/>
                </a:lnTo>
                <a:lnTo>
                  <a:pt x="28575" y="349382"/>
                </a:lnTo>
                <a:lnTo>
                  <a:pt x="22178" y="342985"/>
                </a:lnTo>
                <a:close/>
              </a:path>
              <a:path w="28575" h="5288280">
                <a:moveTo>
                  <a:pt x="22178" y="457314"/>
                </a:moveTo>
                <a:lnTo>
                  <a:pt x="6396" y="457314"/>
                </a:lnTo>
                <a:lnTo>
                  <a:pt x="0" y="463711"/>
                </a:lnTo>
                <a:lnTo>
                  <a:pt x="0" y="479521"/>
                </a:lnTo>
                <a:lnTo>
                  <a:pt x="6396" y="485917"/>
                </a:lnTo>
                <a:lnTo>
                  <a:pt x="22178" y="485917"/>
                </a:lnTo>
                <a:lnTo>
                  <a:pt x="28575" y="479521"/>
                </a:lnTo>
                <a:lnTo>
                  <a:pt x="28575" y="463711"/>
                </a:lnTo>
                <a:lnTo>
                  <a:pt x="22178" y="457314"/>
                </a:lnTo>
                <a:close/>
              </a:path>
              <a:path w="28575" h="5288280">
                <a:moveTo>
                  <a:pt x="22178" y="571642"/>
                </a:moveTo>
                <a:lnTo>
                  <a:pt x="6396" y="571642"/>
                </a:lnTo>
                <a:lnTo>
                  <a:pt x="0" y="578039"/>
                </a:lnTo>
                <a:lnTo>
                  <a:pt x="0" y="593849"/>
                </a:lnTo>
                <a:lnTo>
                  <a:pt x="6396" y="600246"/>
                </a:lnTo>
                <a:lnTo>
                  <a:pt x="22178" y="600246"/>
                </a:lnTo>
                <a:lnTo>
                  <a:pt x="28575" y="593849"/>
                </a:lnTo>
                <a:lnTo>
                  <a:pt x="28575" y="578039"/>
                </a:lnTo>
                <a:lnTo>
                  <a:pt x="22178" y="571642"/>
                </a:lnTo>
                <a:close/>
              </a:path>
              <a:path w="28575" h="5288280">
                <a:moveTo>
                  <a:pt x="22178" y="685971"/>
                </a:moveTo>
                <a:lnTo>
                  <a:pt x="6396" y="685971"/>
                </a:lnTo>
                <a:lnTo>
                  <a:pt x="0" y="692368"/>
                </a:lnTo>
                <a:lnTo>
                  <a:pt x="0" y="708178"/>
                </a:lnTo>
                <a:lnTo>
                  <a:pt x="6396" y="714574"/>
                </a:lnTo>
                <a:lnTo>
                  <a:pt x="22178" y="714574"/>
                </a:lnTo>
                <a:lnTo>
                  <a:pt x="28575" y="708178"/>
                </a:lnTo>
                <a:lnTo>
                  <a:pt x="28575" y="692368"/>
                </a:lnTo>
                <a:lnTo>
                  <a:pt x="22178" y="685971"/>
                </a:lnTo>
                <a:close/>
              </a:path>
              <a:path w="28575" h="5288280">
                <a:moveTo>
                  <a:pt x="22179" y="800299"/>
                </a:moveTo>
                <a:lnTo>
                  <a:pt x="6396" y="800299"/>
                </a:lnTo>
                <a:lnTo>
                  <a:pt x="0" y="806696"/>
                </a:lnTo>
                <a:lnTo>
                  <a:pt x="0" y="822506"/>
                </a:lnTo>
                <a:lnTo>
                  <a:pt x="6396" y="828903"/>
                </a:lnTo>
                <a:lnTo>
                  <a:pt x="22179" y="828903"/>
                </a:lnTo>
                <a:lnTo>
                  <a:pt x="28575" y="822506"/>
                </a:lnTo>
                <a:lnTo>
                  <a:pt x="28575" y="806696"/>
                </a:lnTo>
                <a:lnTo>
                  <a:pt x="22179" y="800299"/>
                </a:lnTo>
                <a:close/>
              </a:path>
              <a:path w="28575" h="5288280">
                <a:moveTo>
                  <a:pt x="22179" y="914628"/>
                </a:moveTo>
                <a:lnTo>
                  <a:pt x="6396" y="914628"/>
                </a:lnTo>
                <a:lnTo>
                  <a:pt x="0" y="921025"/>
                </a:lnTo>
                <a:lnTo>
                  <a:pt x="0" y="936835"/>
                </a:lnTo>
                <a:lnTo>
                  <a:pt x="6396" y="943231"/>
                </a:lnTo>
                <a:lnTo>
                  <a:pt x="22179" y="943231"/>
                </a:lnTo>
                <a:lnTo>
                  <a:pt x="28575" y="936835"/>
                </a:lnTo>
                <a:lnTo>
                  <a:pt x="28575" y="921025"/>
                </a:lnTo>
                <a:lnTo>
                  <a:pt x="22179" y="914628"/>
                </a:lnTo>
                <a:close/>
              </a:path>
              <a:path w="28575" h="5288280">
                <a:moveTo>
                  <a:pt x="22179" y="1028956"/>
                </a:moveTo>
                <a:lnTo>
                  <a:pt x="6396" y="1028956"/>
                </a:lnTo>
                <a:lnTo>
                  <a:pt x="0" y="1035353"/>
                </a:lnTo>
                <a:lnTo>
                  <a:pt x="0" y="1051163"/>
                </a:lnTo>
                <a:lnTo>
                  <a:pt x="6396" y="1057560"/>
                </a:lnTo>
                <a:lnTo>
                  <a:pt x="22179" y="1057560"/>
                </a:lnTo>
                <a:lnTo>
                  <a:pt x="28575" y="1051163"/>
                </a:lnTo>
                <a:lnTo>
                  <a:pt x="28575" y="1035353"/>
                </a:lnTo>
                <a:lnTo>
                  <a:pt x="22179" y="1028956"/>
                </a:lnTo>
                <a:close/>
              </a:path>
              <a:path w="28575" h="5288280">
                <a:moveTo>
                  <a:pt x="22179" y="1143285"/>
                </a:moveTo>
                <a:lnTo>
                  <a:pt x="6396" y="1143285"/>
                </a:lnTo>
                <a:lnTo>
                  <a:pt x="0" y="1149682"/>
                </a:lnTo>
                <a:lnTo>
                  <a:pt x="0" y="1165491"/>
                </a:lnTo>
                <a:lnTo>
                  <a:pt x="6396" y="1171888"/>
                </a:lnTo>
                <a:lnTo>
                  <a:pt x="22179" y="1171888"/>
                </a:lnTo>
                <a:lnTo>
                  <a:pt x="28575" y="1165491"/>
                </a:lnTo>
                <a:lnTo>
                  <a:pt x="28575" y="1149682"/>
                </a:lnTo>
                <a:lnTo>
                  <a:pt x="22179" y="1143285"/>
                </a:lnTo>
                <a:close/>
              </a:path>
              <a:path w="28575" h="5288280">
                <a:moveTo>
                  <a:pt x="22179" y="1257613"/>
                </a:moveTo>
                <a:lnTo>
                  <a:pt x="6396" y="1257613"/>
                </a:lnTo>
                <a:lnTo>
                  <a:pt x="0" y="1264010"/>
                </a:lnTo>
                <a:lnTo>
                  <a:pt x="0" y="1279820"/>
                </a:lnTo>
                <a:lnTo>
                  <a:pt x="6396" y="1286217"/>
                </a:lnTo>
                <a:lnTo>
                  <a:pt x="22179" y="1286217"/>
                </a:lnTo>
                <a:lnTo>
                  <a:pt x="28575" y="1279820"/>
                </a:lnTo>
                <a:lnTo>
                  <a:pt x="28575" y="1264010"/>
                </a:lnTo>
                <a:lnTo>
                  <a:pt x="22179" y="1257613"/>
                </a:lnTo>
                <a:close/>
              </a:path>
              <a:path w="28575" h="5288280">
                <a:moveTo>
                  <a:pt x="22179" y="1371942"/>
                </a:moveTo>
                <a:lnTo>
                  <a:pt x="6396" y="1371942"/>
                </a:lnTo>
                <a:lnTo>
                  <a:pt x="0" y="1378339"/>
                </a:lnTo>
                <a:lnTo>
                  <a:pt x="0" y="1394150"/>
                </a:lnTo>
                <a:lnTo>
                  <a:pt x="6396" y="1400545"/>
                </a:lnTo>
                <a:lnTo>
                  <a:pt x="22179" y="1400545"/>
                </a:lnTo>
                <a:lnTo>
                  <a:pt x="28575" y="1394150"/>
                </a:lnTo>
                <a:lnTo>
                  <a:pt x="28575" y="1378339"/>
                </a:lnTo>
                <a:lnTo>
                  <a:pt x="22179" y="1371942"/>
                </a:lnTo>
                <a:close/>
              </a:path>
              <a:path w="28575" h="5288280">
                <a:moveTo>
                  <a:pt x="22179" y="1486270"/>
                </a:moveTo>
                <a:lnTo>
                  <a:pt x="6396" y="1486270"/>
                </a:lnTo>
                <a:lnTo>
                  <a:pt x="0" y="1492667"/>
                </a:lnTo>
                <a:lnTo>
                  <a:pt x="0" y="1508478"/>
                </a:lnTo>
                <a:lnTo>
                  <a:pt x="6396" y="1514875"/>
                </a:lnTo>
                <a:lnTo>
                  <a:pt x="22179" y="1514875"/>
                </a:lnTo>
                <a:lnTo>
                  <a:pt x="28575" y="1508478"/>
                </a:lnTo>
                <a:lnTo>
                  <a:pt x="28575" y="1492667"/>
                </a:lnTo>
                <a:lnTo>
                  <a:pt x="22179" y="1486270"/>
                </a:lnTo>
                <a:close/>
              </a:path>
              <a:path w="28575" h="5288280">
                <a:moveTo>
                  <a:pt x="22179" y="1600600"/>
                </a:moveTo>
                <a:lnTo>
                  <a:pt x="6396" y="1600600"/>
                </a:lnTo>
                <a:lnTo>
                  <a:pt x="0" y="1606997"/>
                </a:lnTo>
                <a:lnTo>
                  <a:pt x="0" y="1622807"/>
                </a:lnTo>
                <a:lnTo>
                  <a:pt x="6396" y="1629202"/>
                </a:lnTo>
                <a:lnTo>
                  <a:pt x="22179" y="1629202"/>
                </a:lnTo>
                <a:lnTo>
                  <a:pt x="28575" y="1622807"/>
                </a:lnTo>
                <a:lnTo>
                  <a:pt x="28575" y="1606997"/>
                </a:lnTo>
                <a:lnTo>
                  <a:pt x="22179" y="1600600"/>
                </a:lnTo>
                <a:close/>
              </a:path>
              <a:path w="28575" h="5288280">
                <a:moveTo>
                  <a:pt x="22179" y="1714927"/>
                </a:moveTo>
                <a:lnTo>
                  <a:pt x="6396" y="1714927"/>
                </a:lnTo>
                <a:lnTo>
                  <a:pt x="0" y="1721324"/>
                </a:lnTo>
                <a:lnTo>
                  <a:pt x="0" y="1737135"/>
                </a:lnTo>
                <a:lnTo>
                  <a:pt x="6396" y="1743532"/>
                </a:lnTo>
                <a:lnTo>
                  <a:pt x="22179" y="1743532"/>
                </a:lnTo>
                <a:lnTo>
                  <a:pt x="28575" y="1737135"/>
                </a:lnTo>
                <a:lnTo>
                  <a:pt x="28575" y="1721324"/>
                </a:lnTo>
                <a:lnTo>
                  <a:pt x="22179" y="1714927"/>
                </a:lnTo>
                <a:close/>
              </a:path>
              <a:path w="28575" h="5288280">
                <a:moveTo>
                  <a:pt x="22179" y="1829257"/>
                </a:moveTo>
                <a:lnTo>
                  <a:pt x="6396" y="1829257"/>
                </a:lnTo>
                <a:lnTo>
                  <a:pt x="0" y="1835654"/>
                </a:lnTo>
                <a:lnTo>
                  <a:pt x="0" y="1851464"/>
                </a:lnTo>
                <a:lnTo>
                  <a:pt x="6396" y="1857861"/>
                </a:lnTo>
                <a:lnTo>
                  <a:pt x="22179" y="1857861"/>
                </a:lnTo>
                <a:lnTo>
                  <a:pt x="28575" y="1851464"/>
                </a:lnTo>
                <a:lnTo>
                  <a:pt x="28575" y="1835654"/>
                </a:lnTo>
                <a:lnTo>
                  <a:pt x="22179" y="1829257"/>
                </a:lnTo>
                <a:close/>
              </a:path>
              <a:path w="28575" h="5288280">
                <a:moveTo>
                  <a:pt x="22179" y="1943586"/>
                </a:moveTo>
                <a:lnTo>
                  <a:pt x="6396" y="1943586"/>
                </a:lnTo>
                <a:lnTo>
                  <a:pt x="0" y="1949982"/>
                </a:lnTo>
                <a:lnTo>
                  <a:pt x="0" y="1965792"/>
                </a:lnTo>
                <a:lnTo>
                  <a:pt x="6396" y="1972189"/>
                </a:lnTo>
                <a:lnTo>
                  <a:pt x="22179" y="1972189"/>
                </a:lnTo>
                <a:lnTo>
                  <a:pt x="28575" y="1965792"/>
                </a:lnTo>
                <a:lnTo>
                  <a:pt x="28575" y="1949982"/>
                </a:lnTo>
                <a:lnTo>
                  <a:pt x="22179" y="1943586"/>
                </a:lnTo>
                <a:close/>
              </a:path>
              <a:path w="28575" h="5288280">
                <a:moveTo>
                  <a:pt x="22179" y="2057914"/>
                </a:moveTo>
                <a:lnTo>
                  <a:pt x="6396" y="2057914"/>
                </a:lnTo>
                <a:lnTo>
                  <a:pt x="0" y="2064311"/>
                </a:lnTo>
                <a:lnTo>
                  <a:pt x="0" y="2080121"/>
                </a:lnTo>
                <a:lnTo>
                  <a:pt x="6396" y="2086518"/>
                </a:lnTo>
                <a:lnTo>
                  <a:pt x="22179" y="2086518"/>
                </a:lnTo>
                <a:lnTo>
                  <a:pt x="28575" y="2080121"/>
                </a:lnTo>
                <a:lnTo>
                  <a:pt x="28575" y="2064311"/>
                </a:lnTo>
                <a:lnTo>
                  <a:pt x="22179" y="2057914"/>
                </a:lnTo>
                <a:close/>
              </a:path>
              <a:path w="28575" h="5288280">
                <a:moveTo>
                  <a:pt x="22179" y="2172243"/>
                </a:moveTo>
                <a:lnTo>
                  <a:pt x="6396" y="2172243"/>
                </a:lnTo>
                <a:lnTo>
                  <a:pt x="1" y="2178639"/>
                </a:lnTo>
                <a:lnTo>
                  <a:pt x="1" y="2194449"/>
                </a:lnTo>
                <a:lnTo>
                  <a:pt x="6396" y="2200846"/>
                </a:lnTo>
                <a:lnTo>
                  <a:pt x="22179" y="2200846"/>
                </a:lnTo>
                <a:lnTo>
                  <a:pt x="28576" y="2194449"/>
                </a:lnTo>
                <a:lnTo>
                  <a:pt x="28576" y="2178639"/>
                </a:lnTo>
                <a:lnTo>
                  <a:pt x="22179" y="2172243"/>
                </a:lnTo>
                <a:close/>
              </a:path>
              <a:path w="28575" h="5288280">
                <a:moveTo>
                  <a:pt x="22179" y="2286571"/>
                </a:moveTo>
                <a:lnTo>
                  <a:pt x="6396" y="2286571"/>
                </a:lnTo>
                <a:lnTo>
                  <a:pt x="1" y="2292968"/>
                </a:lnTo>
                <a:lnTo>
                  <a:pt x="1" y="2308778"/>
                </a:lnTo>
                <a:lnTo>
                  <a:pt x="6396" y="2315174"/>
                </a:lnTo>
                <a:lnTo>
                  <a:pt x="22179" y="2315174"/>
                </a:lnTo>
                <a:lnTo>
                  <a:pt x="28576" y="2308778"/>
                </a:lnTo>
                <a:lnTo>
                  <a:pt x="28576" y="2292968"/>
                </a:lnTo>
                <a:lnTo>
                  <a:pt x="22179" y="2286571"/>
                </a:lnTo>
                <a:close/>
              </a:path>
              <a:path w="28575" h="5288280">
                <a:moveTo>
                  <a:pt x="22179" y="2400899"/>
                </a:moveTo>
                <a:lnTo>
                  <a:pt x="6396" y="2400899"/>
                </a:lnTo>
                <a:lnTo>
                  <a:pt x="1" y="2407296"/>
                </a:lnTo>
                <a:lnTo>
                  <a:pt x="1" y="2423106"/>
                </a:lnTo>
                <a:lnTo>
                  <a:pt x="6396" y="2429503"/>
                </a:lnTo>
                <a:lnTo>
                  <a:pt x="22179" y="2429503"/>
                </a:lnTo>
                <a:lnTo>
                  <a:pt x="28576" y="2423106"/>
                </a:lnTo>
                <a:lnTo>
                  <a:pt x="28576" y="2407296"/>
                </a:lnTo>
                <a:lnTo>
                  <a:pt x="22179" y="2400899"/>
                </a:lnTo>
                <a:close/>
              </a:path>
              <a:path w="28575" h="5288280">
                <a:moveTo>
                  <a:pt x="22179" y="2515228"/>
                </a:moveTo>
                <a:lnTo>
                  <a:pt x="6396" y="2515228"/>
                </a:lnTo>
                <a:lnTo>
                  <a:pt x="1" y="2521625"/>
                </a:lnTo>
                <a:lnTo>
                  <a:pt x="1" y="2537435"/>
                </a:lnTo>
                <a:lnTo>
                  <a:pt x="6396" y="2543831"/>
                </a:lnTo>
                <a:lnTo>
                  <a:pt x="22179" y="2543831"/>
                </a:lnTo>
                <a:lnTo>
                  <a:pt x="28576" y="2537435"/>
                </a:lnTo>
                <a:lnTo>
                  <a:pt x="28576" y="2521625"/>
                </a:lnTo>
                <a:lnTo>
                  <a:pt x="22179" y="2515228"/>
                </a:lnTo>
                <a:close/>
              </a:path>
              <a:path w="28575" h="5288280">
                <a:moveTo>
                  <a:pt x="22179" y="2629556"/>
                </a:moveTo>
                <a:lnTo>
                  <a:pt x="6396" y="2629556"/>
                </a:lnTo>
                <a:lnTo>
                  <a:pt x="1" y="2635953"/>
                </a:lnTo>
                <a:lnTo>
                  <a:pt x="1" y="2651763"/>
                </a:lnTo>
                <a:lnTo>
                  <a:pt x="6396" y="2658160"/>
                </a:lnTo>
                <a:lnTo>
                  <a:pt x="22179" y="2658160"/>
                </a:lnTo>
                <a:lnTo>
                  <a:pt x="28576" y="2651763"/>
                </a:lnTo>
                <a:lnTo>
                  <a:pt x="28576" y="2635953"/>
                </a:lnTo>
                <a:lnTo>
                  <a:pt x="22179" y="2629556"/>
                </a:lnTo>
                <a:close/>
              </a:path>
              <a:path w="28575" h="5288280">
                <a:moveTo>
                  <a:pt x="22179" y="2743885"/>
                </a:moveTo>
                <a:lnTo>
                  <a:pt x="6396" y="2743885"/>
                </a:lnTo>
                <a:lnTo>
                  <a:pt x="1" y="2750282"/>
                </a:lnTo>
                <a:lnTo>
                  <a:pt x="1" y="2766091"/>
                </a:lnTo>
                <a:lnTo>
                  <a:pt x="6396" y="2772488"/>
                </a:lnTo>
                <a:lnTo>
                  <a:pt x="22179" y="2772488"/>
                </a:lnTo>
                <a:lnTo>
                  <a:pt x="28576" y="2766091"/>
                </a:lnTo>
                <a:lnTo>
                  <a:pt x="28576" y="2750282"/>
                </a:lnTo>
                <a:lnTo>
                  <a:pt x="22179" y="2743885"/>
                </a:lnTo>
                <a:close/>
              </a:path>
              <a:path w="28575" h="5288280">
                <a:moveTo>
                  <a:pt x="22179" y="2858213"/>
                </a:moveTo>
                <a:lnTo>
                  <a:pt x="6396" y="2858213"/>
                </a:lnTo>
                <a:lnTo>
                  <a:pt x="1" y="2864610"/>
                </a:lnTo>
                <a:lnTo>
                  <a:pt x="1" y="2880420"/>
                </a:lnTo>
                <a:lnTo>
                  <a:pt x="6396" y="2886817"/>
                </a:lnTo>
                <a:lnTo>
                  <a:pt x="22179" y="2886817"/>
                </a:lnTo>
                <a:lnTo>
                  <a:pt x="28576" y="2880420"/>
                </a:lnTo>
                <a:lnTo>
                  <a:pt x="28576" y="2864610"/>
                </a:lnTo>
                <a:lnTo>
                  <a:pt x="22179" y="2858213"/>
                </a:lnTo>
                <a:close/>
              </a:path>
              <a:path w="28575" h="5288280">
                <a:moveTo>
                  <a:pt x="22179" y="2972542"/>
                </a:moveTo>
                <a:lnTo>
                  <a:pt x="6396" y="2972542"/>
                </a:lnTo>
                <a:lnTo>
                  <a:pt x="1" y="2978938"/>
                </a:lnTo>
                <a:lnTo>
                  <a:pt x="1" y="2994748"/>
                </a:lnTo>
                <a:lnTo>
                  <a:pt x="6396" y="3001145"/>
                </a:lnTo>
                <a:lnTo>
                  <a:pt x="22179" y="3001145"/>
                </a:lnTo>
                <a:lnTo>
                  <a:pt x="28576" y="2994748"/>
                </a:lnTo>
                <a:lnTo>
                  <a:pt x="28576" y="2978938"/>
                </a:lnTo>
                <a:lnTo>
                  <a:pt x="22179" y="2972542"/>
                </a:lnTo>
                <a:close/>
              </a:path>
              <a:path w="28575" h="5288280">
                <a:moveTo>
                  <a:pt x="22179" y="3086870"/>
                </a:moveTo>
                <a:lnTo>
                  <a:pt x="6396" y="3086870"/>
                </a:lnTo>
                <a:lnTo>
                  <a:pt x="1" y="3093267"/>
                </a:lnTo>
                <a:lnTo>
                  <a:pt x="1" y="3109078"/>
                </a:lnTo>
                <a:lnTo>
                  <a:pt x="6396" y="3115475"/>
                </a:lnTo>
                <a:lnTo>
                  <a:pt x="22179" y="3115475"/>
                </a:lnTo>
                <a:lnTo>
                  <a:pt x="28576" y="3109078"/>
                </a:lnTo>
                <a:lnTo>
                  <a:pt x="28576" y="3093267"/>
                </a:lnTo>
                <a:lnTo>
                  <a:pt x="22179" y="3086870"/>
                </a:lnTo>
                <a:close/>
              </a:path>
              <a:path w="28575" h="5288280">
                <a:moveTo>
                  <a:pt x="22179" y="3201200"/>
                </a:moveTo>
                <a:lnTo>
                  <a:pt x="6396" y="3201200"/>
                </a:lnTo>
                <a:lnTo>
                  <a:pt x="1" y="3207595"/>
                </a:lnTo>
                <a:lnTo>
                  <a:pt x="1" y="3223406"/>
                </a:lnTo>
                <a:lnTo>
                  <a:pt x="6396" y="3229803"/>
                </a:lnTo>
                <a:lnTo>
                  <a:pt x="22179" y="3229803"/>
                </a:lnTo>
                <a:lnTo>
                  <a:pt x="28576" y="3223406"/>
                </a:lnTo>
                <a:lnTo>
                  <a:pt x="28576" y="3207595"/>
                </a:lnTo>
                <a:lnTo>
                  <a:pt x="22179" y="3201200"/>
                </a:lnTo>
                <a:close/>
              </a:path>
              <a:path w="28575" h="5288280">
                <a:moveTo>
                  <a:pt x="22179" y="3315528"/>
                </a:moveTo>
                <a:lnTo>
                  <a:pt x="6396" y="3315528"/>
                </a:lnTo>
                <a:lnTo>
                  <a:pt x="1" y="3321925"/>
                </a:lnTo>
                <a:lnTo>
                  <a:pt x="1" y="3337735"/>
                </a:lnTo>
                <a:lnTo>
                  <a:pt x="6396" y="3344130"/>
                </a:lnTo>
                <a:lnTo>
                  <a:pt x="22179" y="3344130"/>
                </a:lnTo>
                <a:lnTo>
                  <a:pt x="28576" y="3337735"/>
                </a:lnTo>
                <a:lnTo>
                  <a:pt x="28576" y="3321925"/>
                </a:lnTo>
                <a:lnTo>
                  <a:pt x="22179" y="3315528"/>
                </a:lnTo>
                <a:close/>
              </a:path>
              <a:path w="28575" h="5288280">
                <a:moveTo>
                  <a:pt x="22179" y="3429855"/>
                </a:moveTo>
                <a:lnTo>
                  <a:pt x="6396" y="3429855"/>
                </a:lnTo>
                <a:lnTo>
                  <a:pt x="1" y="3436252"/>
                </a:lnTo>
                <a:lnTo>
                  <a:pt x="1" y="3452063"/>
                </a:lnTo>
                <a:lnTo>
                  <a:pt x="6396" y="3458460"/>
                </a:lnTo>
                <a:lnTo>
                  <a:pt x="22179" y="3458460"/>
                </a:lnTo>
                <a:lnTo>
                  <a:pt x="28576" y="3452063"/>
                </a:lnTo>
                <a:lnTo>
                  <a:pt x="28576" y="3436252"/>
                </a:lnTo>
                <a:lnTo>
                  <a:pt x="22179" y="3429855"/>
                </a:lnTo>
                <a:close/>
              </a:path>
              <a:path w="28575" h="5288280">
                <a:moveTo>
                  <a:pt x="22179" y="3544185"/>
                </a:moveTo>
                <a:lnTo>
                  <a:pt x="6398" y="3544185"/>
                </a:lnTo>
                <a:lnTo>
                  <a:pt x="1" y="3550582"/>
                </a:lnTo>
                <a:lnTo>
                  <a:pt x="1" y="3566391"/>
                </a:lnTo>
                <a:lnTo>
                  <a:pt x="6398" y="3572788"/>
                </a:lnTo>
                <a:lnTo>
                  <a:pt x="22179" y="3572788"/>
                </a:lnTo>
                <a:lnTo>
                  <a:pt x="28576" y="3566391"/>
                </a:lnTo>
                <a:lnTo>
                  <a:pt x="28576" y="3550582"/>
                </a:lnTo>
                <a:lnTo>
                  <a:pt x="22179" y="3544185"/>
                </a:lnTo>
                <a:close/>
              </a:path>
              <a:path w="28575" h="5288280">
                <a:moveTo>
                  <a:pt x="22179" y="3658513"/>
                </a:moveTo>
                <a:lnTo>
                  <a:pt x="6398" y="3658513"/>
                </a:lnTo>
                <a:lnTo>
                  <a:pt x="1" y="3664910"/>
                </a:lnTo>
                <a:lnTo>
                  <a:pt x="1" y="3680720"/>
                </a:lnTo>
                <a:lnTo>
                  <a:pt x="6398" y="3687117"/>
                </a:lnTo>
                <a:lnTo>
                  <a:pt x="22179" y="3687117"/>
                </a:lnTo>
                <a:lnTo>
                  <a:pt x="28576" y="3680720"/>
                </a:lnTo>
                <a:lnTo>
                  <a:pt x="28576" y="3664910"/>
                </a:lnTo>
                <a:lnTo>
                  <a:pt x="22179" y="3658513"/>
                </a:lnTo>
                <a:close/>
              </a:path>
              <a:path w="28575" h="5288280">
                <a:moveTo>
                  <a:pt x="22179" y="3772842"/>
                </a:moveTo>
                <a:lnTo>
                  <a:pt x="6398" y="3772842"/>
                </a:lnTo>
                <a:lnTo>
                  <a:pt x="1" y="3779239"/>
                </a:lnTo>
                <a:lnTo>
                  <a:pt x="1" y="3795048"/>
                </a:lnTo>
                <a:lnTo>
                  <a:pt x="6398" y="3801445"/>
                </a:lnTo>
                <a:lnTo>
                  <a:pt x="22179" y="3801445"/>
                </a:lnTo>
                <a:lnTo>
                  <a:pt x="28576" y="3795048"/>
                </a:lnTo>
                <a:lnTo>
                  <a:pt x="28576" y="3779239"/>
                </a:lnTo>
                <a:lnTo>
                  <a:pt x="22179" y="3772842"/>
                </a:lnTo>
                <a:close/>
              </a:path>
              <a:path w="28575" h="5288280">
                <a:moveTo>
                  <a:pt x="22179" y="3887170"/>
                </a:moveTo>
                <a:lnTo>
                  <a:pt x="6398" y="3887170"/>
                </a:lnTo>
                <a:lnTo>
                  <a:pt x="1" y="3893567"/>
                </a:lnTo>
                <a:lnTo>
                  <a:pt x="1" y="3909377"/>
                </a:lnTo>
                <a:lnTo>
                  <a:pt x="6398" y="3915774"/>
                </a:lnTo>
                <a:lnTo>
                  <a:pt x="22179" y="3915774"/>
                </a:lnTo>
                <a:lnTo>
                  <a:pt x="28576" y="3909377"/>
                </a:lnTo>
                <a:lnTo>
                  <a:pt x="28576" y="3893567"/>
                </a:lnTo>
                <a:lnTo>
                  <a:pt x="22179" y="3887170"/>
                </a:lnTo>
                <a:close/>
              </a:path>
              <a:path w="28575" h="5288280">
                <a:moveTo>
                  <a:pt x="22179" y="4001499"/>
                </a:moveTo>
                <a:lnTo>
                  <a:pt x="6398" y="4001499"/>
                </a:lnTo>
                <a:lnTo>
                  <a:pt x="1" y="4007895"/>
                </a:lnTo>
                <a:lnTo>
                  <a:pt x="1" y="4023705"/>
                </a:lnTo>
                <a:lnTo>
                  <a:pt x="6398" y="4030102"/>
                </a:lnTo>
                <a:lnTo>
                  <a:pt x="22179" y="4030102"/>
                </a:lnTo>
                <a:lnTo>
                  <a:pt x="28576" y="4023705"/>
                </a:lnTo>
                <a:lnTo>
                  <a:pt x="28576" y="4007895"/>
                </a:lnTo>
                <a:lnTo>
                  <a:pt x="22179" y="4001499"/>
                </a:lnTo>
                <a:close/>
              </a:path>
              <a:path w="28575" h="5288280">
                <a:moveTo>
                  <a:pt x="22179" y="4115827"/>
                </a:moveTo>
                <a:lnTo>
                  <a:pt x="6398" y="4115827"/>
                </a:lnTo>
                <a:lnTo>
                  <a:pt x="1" y="4122224"/>
                </a:lnTo>
                <a:lnTo>
                  <a:pt x="1" y="4138034"/>
                </a:lnTo>
                <a:lnTo>
                  <a:pt x="6398" y="4144430"/>
                </a:lnTo>
                <a:lnTo>
                  <a:pt x="22179" y="4144430"/>
                </a:lnTo>
                <a:lnTo>
                  <a:pt x="28576" y="4138034"/>
                </a:lnTo>
                <a:lnTo>
                  <a:pt x="28576" y="4122224"/>
                </a:lnTo>
                <a:lnTo>
                  <a:pt x="22179" y="4115827"/>
                </a:lnTo>
                <a:close/>
              </a:path>
              <a:path w="28575" h="5288280">
                <a:moveTo>
                  <a:pt x="22179" y="4230155"/>
                </a:moveTo>
                <a:lnTo>
                  <a:pt x="6398" y="4230155"/>
                </a:lnTo>
                <a:lnTo>
                  <a:pt x="1" y="4236552"/>
                </a:lnTo>
                <a:lnTo>
                  <a:pt x="1" y="4252362"/>
                </a:lnTo>
                <a:lnTo>
                  <a:pt x="6398" y="4258759"/>
                </a:lnTo>
                <a:lnTo>
                  <a:pt x="22179" y="4258759"/>
                </a:lnTo>
                <a:lnTo>
                  <a:pt x="28576" y="4252362"/>
                </a:lnTo>
                <a:lnTo>
                  <a:pt x="28576" y="4236552"/>
                </a:lnTo>
                <a:lnTo>
                  <a:pt x="22179" y="4230155"/>
                </a:lnTo>
                <a:close/>
              </a:path>
              <a:path w="28575" h="5288280">
                <a:moveTo>
                  <a:pt x="22179" y="4344484"/>
                </a:moveTo>
                <a:lnTo>
                  <a:pt x="6398" y="4344484"/>
                </a:lnTo>
                <a:lnTo>
                  <a:pt x="1" y="4350880"/>
                </a:lnTo>
                <a:lnTo>
                  <a:pt x="1" y="4366691"/>
                </a:lnTo>
                <a:lnTo>
                  <a:pt x="6398" y="4373087"/>
                </a:lnTo>
                <a:lnTo>
                  <a:pt x="22179" y="4373087"/>
                </a:lnTo>
                <a:lnTo>
                  <a:pt x="28576" y="4366691"/>
                </a:lnTo>
                <a:lnTo>
                  <a:pt x="28576" y="4350880"/>
                </a:lnTo>
                <a:lnTo>
                  <a:pt x="22179" y="4344484"/>
                </a:lnTo>
                <a:close/>
              </a:path>
              <a:path w="28575" h="5288280">
                <a:moveTo>
                  <a:pt x="22179" y="4458812"/>
                </a:moveTo>
                <a:lnTo>
                  <a:pt x="6398" y="4458812"/>
                </a:lnTo>
                <a:lnTo>
                  <a:pt x="1" y="4465209"/>
                </a:lnTo>
                <a:lnTo>
                  <a:pt x="1" y="4481019"/>
                </a:lnTo>
                <a:lnTo>
                  <a:pt x="6398" y="4487416"/>
                </a:lnTo>
                <a:lnTo>
                  <a:pt x="22179" y="4487416"/>
                </a:lnTo>
                <a:lnTo>
                  <a:pt x="28576" y="4481019"/>
                </a:lnTo>
                <a:lnTo>
                  <a:pt x="28576" y="4465209"/>
                </a:lnTo>
                <a:lnTo>
                  <a:pt x="22179" y="4458812"/>
                </a:lnTo>
                <a:close/>
              </a:path>
              <a:path w="28575" h="5288280">
                <a:moveTo>
                  <a:pt x="22179" y="4573141"/>
                </a:moveTo>
                <a:lnTo>
                  <a:pt x="6398" y="4573141"/>
                </a:lnTo>
                <a:lnTo>
                  <a:pt x="1" y="4579537"/>
                </a:lnTo>
                <a:lnTo>
                  <a:pt x="1" y="4595348"/>
                </a:lnTo>
                <a:lnTo>
                  <a:pt x="6398" y="4601744"/>
                </a:lnTo>
                <a:lnTo>
                  <a:pt x="22179" y="4601744"/>
                </a:lnTo>
                <a:lnTo>
                  <a:pt x="28576" y="4595348"/>
                </a:lnTo>
                <a:lnTo>
                  <a:pt x="28576" y="4579537"/>
                </a:lnTo>
                <a:lnTo>
                  <a:pt x="22179" y="4573141"/>
                </a:lnTo>
                <a:close/>
              </a:path>
              <a:path w="28575" h="5288280">
                <a:moveTo>
                  <a:pt x="22179" y="4687469"/>
                </a:moveTo>
                <a:lnTo>
                  <a:pt x="6398" y="4687469"/>
                </a:lnTo>
                <a:lnTo>
                  <a:pt x="1" y="4693866"/>
                </a:lnTo>
                <a:lnTo>
                  <a:pt x="1" y="4709676"/>
                </a:lnTo>
                <a:lnTo>
                  <a:pt x="6398" y="4716073"/>
                </a:lnTo>
                <a:lnTo>
                  <a:pt x="22179" y="4716073"/>
                </a:lnTo>
                <a:lnTo>
                  <a:pt x="28576" y="4709676"/>
                </a:lnTo>
                <a:lnTo>
                  <a:pt x="28576" y="4693866"/>
                </a:lnTo>
                <a:lnTo>
                  <a:pt x="22179" y="4687469"/>
                </a:lnTo>
                <a:close/>
              </a:path>
              <a:path w="28575" h="5288280">
                <a:moveTo>
                  <a:pt x="22179" y="4801798"/>
                </a:moveTo>
                <a:lnTo>
                  <a:pt x="6398" y="4801798"/>
                </a:lnTo>
                <a:lnTo>
                  <a:pt x="1" y="4808194"/>
                </a:lnTo>
                <a:lnTo>
                  <a:pt x="1" y="4824005"/>
                </a:lnTo>
                <a:lnTo>
                  <a:pt x="6398" y="4830401"/>
                </a:lnTo>
                <a:lnTo>
                  <a:pt x="22179" y="4830401"/>
                </a:lnTo>
                <a:lnTo>
                  <a:pt x="28576" y="4824005"/>
                </a:lnTo>
                <a:lnTo>
                  <a:pt x="28576" y="4808194"/>
                </a:lnTo>
                <a:lnTo>
                  <a:pt x="22179" y="4801798"/>
                </a:lnTo>
                <a:close/>
              </a:path>
              <a:path w="28575" h="5288280">
                <a:moveTo>
                  <a:pt x="22179" y="4916126"/>
                </a:moveTo>
                <a:lnTo>
                  <a:pt x="6398" y="4916126"/>
                </a:lnTo>
                <a:lnTo>
                  <a:pt x="1" y="4922523"/>
                </a:lnTo>
                <a:lnTo>
                  <a:pt x="1" y="4938333"/>
                </a:lnTo>
                <a:lnTo>
                  <a:pt x="6398" y="4944730"/>
                </a:lnTo>
                <a:lnTo>
                  <a:pt x="22179" y="4944730"/>
                </a:lnTo>
                <a:lnTo>
                  <a:pt x="28576" y="4938333"/>
                </a:lnTo>
                <a:lnTo>
                  <a:pt x="28576" y="4922523"/>
                </a:lnTo>
                <a:lnTo>
                  <a:pt x="22179" y="4916126"/>
                </a:lnTo>
                <a:close/>
              </a:path>
              <a:path w="28575" h="5288280">
                <a:moveTo>
                  <a:pt x="22179" y="5030455"/>
                </a:moveTo>
                <a:lnTo>
                  <a:pt x="6398" y="5030455"/>
                </a:lnTo>
                <a:lnTo>
                  <a:pt x="1" y="5036851"/>
                </a:lnTo>
                <a:lnTo>
                  <a:pt x="1" y="5052662"/>
                </a:lnTo>
                <a:lnTo>
                  <a:pt x="6398" y="5059058"/>
                </a:lnTo>
                <a:lnTo>
                  <a:pt x="22179" y="5059058"/>
                </a:lnTo>
                <a:lnTo>
                  <a:pt x="28576" y="5052662"/>
                </a:lnTo>
                <a:lnTo>
                  <a:pt x="28576" y="5036851"/>
                </a:lnTo>
                <a:lnTo>
                  <a:pt x="22179" y="5030455"/>
                </a:lnTo>
                <a:close/>
              </a:path>
              <a:path w="28575" h="5288280">
                <a:moveTo>
                  <a:pt x="22179" y="5144783"/>
                </a:moveTo>
                <a:lnTo>
                  <a:pt x="6398" y="5144783"/>
                </a:lnTo>
                <a:lnTo>
                  <a:pt x="1" y="5151180"/>
                </a:lnTo>
                <a:lnTo>
                  <a:pt x="1" y="5166990"/>
                </a:lnTo>
                <a:lnTo>
                  <a:pt x="6398" y="5173387"/>
                </a:lnTo>
                <a:lnTo>
                  <a:pt x="22179" y="5173387"/>
                </a:lnTo>
                <a:lnTo>
                  <a:pt x="28576" y="5166990"/>
                </a:lnTo>
                <a:lnTo>
                  <a:pt x="28576" y="5151180"/>
                </a:lnTo>
                <a:lnTo>
                  <a:pt x="22179" y="5144783"/>
                </a:lnTo>
                <a:close/>
              </a:path>
              <a:path w="28575" h="5288280">
                <a:moveTo>
                  <a:pt x="22179" y="5259112"/>
                </a:moveTo>
                <a:lnTo>
                  <a:pt x="6398" y="5259112"/>
                </a:lnTo>
                <a:lnTo>
                  <a:pt x="1" y="5265508"/>
                </a:lnTo>
                <a:lnTo>
                  <a:pt x="1" y="5281319"/>
                </a:lnTo>
                <a:lnTo>
                  <a:pt x="6398" y="5287715"/>
                </a:lnTo>
                <a:lnTo>
                  <a:pt x="22179" y="5287715"/>
                </a:lnTo>
                <a:lnTo>
                  <a:pt x="28576" y="5281319"/>
                </a:lnTo>
                <a:lnTo>
                  <a:pt x="28576" y="5265508"/>
                </a:lnTo>
                <a:lnTo>
                  <a:pt x="22179" y="5259112"/>
                </a:lnTo>
                <a:close/>
              </a:path>
            </a:pathLst>
          </a:custGeom>
          <a:solidFill>
            <a:srgbClr val="1A6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965762" y="1405573"/>
            <a:ext cx="2431415" cy="455295"/>
          </a:xfrm>
          <a:custGeom>
            <a:avLst/>
            <a:gdLst/>
            <a:ahLst/>
            <a:cxnLst/>
            <a:rect l="l" t="t" r="r" b="b"/>
            <a:pathLst>
              <a:path w="2431415" h="455294">
                <a:moveTo>
                  <a:pt x="2431234" y="0"/>
                </a:moveTo>
                <a:lnTo>
                  <a:pt x="0" y="0"/>
                </a:lnTo>
                <a:lnTo>
                  <a:pt x="0" y="454957"/>
                </a:lnTo>
                <a:lnTo>
                  <a:pt x="2431234" y="454957"/>
                </a:lnTo>
                <a:lnTo>
                  <a:pt x="2431234" y="0"/>
                </a:lnTo>
                <a:close/>
              </a:path>
            </a:pathLst>
          </a:custGeom>
          <a:solidFill>
            <a:srgbClr val="F57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2467" y="338835"/>
            <a:ext cx="3354070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244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83453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277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154" y="703549"/>
            <a:ext cx="6368451" cy="61544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952" y="0"/>
            <a:ext cx="4572000" cy="34350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2397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6551" y="5737954"/>
            <a:ext cx="1519822" cy="67740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9655" y="3910583"/>
            <a:ext cx="4529328" cy="29474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0455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51712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globe&#10;&#10;Description automatically generated with medium confidence">
            <a:extLst>
              <a:ext uri="{FF2B5EF4-FFF2-40B4-BE49-F238E27FC236}">
                <a16:creationId xmlns:a16="http://schemas.microsoft.com/office/drawing/2014/main" id="{354B30D5-FC93-4942-8235-C0FDDA25B1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425" y="5851525"/>
            <a:ext cx="1620136" cy="7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351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8390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2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8124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9688" y="0"/>
            <a:ext cx="3410584" cy="6858000"/>
          </a:xfrm>
          <a:prstGeom prst="rect">
            <a:avLst/>
          </a:prstGeom>
          <a:solidFill>
            <a:srgbClr val="CDED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214871" y="1199896"/>
            <a:ext cx="2795365" cy="731520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3742983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2881875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CDED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83902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bg object 16">
            <a:extLst>
              <a:ext uri="{FF2B5EF4-FFF2-40B4-BE49-F238E27FC236}">
                <a16:creationId xmlns:a16="http://schemas.microsoft.com/office/drawing/2014/main" id="{FF722506-1A03-42D0-A9BE-ACCD64D8D160}"/>
              </a:ext>
            </a:extLst>
          </p:cNvPr>
          <p:cNvSpPr>
            <a:spLocks/>
          </p:cNvSpPr>
          <p:nvPr userDrawn="1"/>
        </p:nvSpPr>
        <p:spPr>
          <a:xfrm>
            <a:off x="554736" y="955246"/>
            <a:ext cx="5065776" cy="0"/>
          </a:xfrm>
          <a:custGeom>
            <a:avLst/>
            <a:gdLst/>
            <a:ahLst/>
            <a:cxnLst/>
            <a:rect l="l" t="t" r="r" b="b"/>
            <a:pathLst>
              <a:path w="10980420">
                <a:moveTo>
                  <a:pt x="0" y="0"/>
                </a:moveTo>
                <a:lnTo>
                  <a:pt x="10980419" y="0"/>
                </a:lnTo>
              </a:path>
            </a:pathLst>
          </a:custGeom>
          <a:ln w="19812">
            <a:solidFill>
              <a:srgbClr val="B8591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36467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81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133911-A31B-A90A-D16B-47AF255B8D27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425" y="5881877"/>
            <a:ext cx="1620136" cy="725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22152E-22EE-6F0A-3325-4A9D2EC1FD32}"/>
              </a:ext>
            </a:extLst>
          </p:cNvPr>
          <p:cNvSpPr txBox="1"/>
          <p:nvPr userDrawn="1"/>
        </p:nvSpPr>
        <p:spPr>
          <a:xfrm>
            <a:off x="3028174" y="6115685"/>
            <a:ext cx="6135652" cy="257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0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Passion. Innovation. Life.</a:t>
            </a:r>
          </a:p>
        </p:txBody>
      </p:sp>
    </p:spTree>
    <p:extLst>
      <p:ext uri="{BB962C8B-B14F-4D97-AF65-F5344CB8AC3E}">
        <p14:creationId xmlns:p14="http://schemas.microsoft.com/office/powerpoint/2010/main" val="340383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7" r:id="rId2"/>
    <p:sldLayoutId id="2147483652" r:id="rId3"/>
    <p:sldLayoutId id="2147483657" r:id="rId4"/>
    <p:sldLayoutId id="2147483655" r:id="rId5"/>
    <p:sldLayoutId id="2147483653" r:id="rId6"/>
    <p:sldLayoutId id="2147483680" r:id="rId7"/>
    <p:sldLayoutId id="2147483678" r:id="rId8"/>
    <p:sldLayoutId id="2147483679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8" r:id="rId15"/>
    <p:sldLayoutId id="2147483667" r:id="rId16"/>
    <p:sldLayoutId id="2147483650" r:id="rId17"/>
    <p:sldLayoutId id="2147483673" r:id="rId18"/>
    <p:sldLayoutId id="2147483674" r:id="rId19"/>
    <p:sldLayoutId id="2147483675" r:id="rId20"/>
    <p:sldLayoutId id="2147483669" r:id="rId21"/>
    <p:sldLayoutId id="2147483670" r:id="rId22"/>
    <p:sldLayoutId id="2147483671" r:id="rId23"/>
    <p:sldLayoutId id="2147483661" r:id="rId24"/>
    <p:sldLayoutId id="2147483660" r:id="rId25"/>
    <p:sldLayoutId id="2147483656" r:id="rId26"/>
    <p:sldLayoutId id="2147483658" r:id="rId27"/>
    <p:sldLayoutId id="2147483672" r:id="rId28"/>
    <p:sldLayoutId id="2147483659" r:id="rId29"/>
    <p:sldLayoutId id="2147483676" r:id="rId30"/>
    <p:sldLayoutId id="214748369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27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496315"/>
            <a:ext cx="1097280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2416949"/>
            <a:ext cx="11003915" cy="2292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553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63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I1" Type="http://schemas.openxmlformats.org/officeDocument/2006/relationships/image" Target="../media/icon_sparx.png"/><Relationship Id="rIdI2" Type="http://schemas.openxmlformats.org/officeDocument/2006/relationships/image" Target="../media/icon_mep.png"/><Relationship Id="rIdI3" Type="http://schemas.openxmlformats.org/officeDocument/2006/relationships/image" Target="../media/icon_learnx.png"/><Relationship Id="rIdI4" Type="http://schemas.openxmlformats.org/officeDocument/2006/relationships/image" Target="../media/icon_gptw.png"/><Relationship Id="rIdI5" Type="http://schemas.openxmlformats.org/officeDocument/2006/relationships/image" Target="../media/icon_next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B" Type="http://schemas.openxmlformats.org/officeDocument/2006/relationships/image" Target="../media/gptw_badge.png"/><Relationship Id="rIdI6" Type="http://schemas.openxmlformats.org/officeDocument/2006/relationships/image" Target="../media/icon_users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I1" Type="http://schemas.openxmlformats.org/officeDocument/2006/relationships/image" Target="../media/icon_sparx.png"/><Relationship Id="rIdI2" Type="http://schemas.openxmlformats.org/officeDocument/2006/relationships/image" Target="../media/icon_mep.png"/><Relationship Id="rIdI3" Type="http://schemas.openxmlformats.org/officeDocument/2006/relationships/image" Target="../media/icon_learnx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P1" Type="http://schemas.openxmlformats.org/officeDocument/2006/relationships/image" Target="../media/celebration_1_1.jpeg"/><Relationship Id="rIdP2" Type="http://schemas.openxmlformats.org/officeDocument/2006/relationships/image" Target="../media/celebration_1_2.jpeg"/><Relationship Id="rIdP3" Type="http://schemas.openxmlformats.org/officeDocument/2006/relationships/image" Target="../media/celebration_1_3.jpeg"/><Relationship Id="rIdP4" Type="http://schemas.openxmlformats.org/officeDocument/2006/relationships/image" Target="../media/celebration_1_4.jpeg"/><Relationship Id="rIdP5" Type="http://schemas.openxmlformats.org/officeDocument/2006/relationships/image" Target="../media/celebration_1_5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P1" Type="http://schemas.openxmlformats.org/officeDocument/2006/relationships/image" Target="../media/celebration_2_1.jpeg"/><Relationship Id="rIdP2" Type="http://schemas.openxmlformats.org/officeDocument/2006/relationships/image" Target="../media/celebration_2_2.jpeg"/><Relationship Id="rIdP3" Type="http://schemas.openxmlformats.org/officeDocument/2006/relationships/image" Target="../media/celebration_2_3.jpeg"/><Relationship Id="rIdP4" Type="http://schemas.openxmlformats.org/officeDocument/2006/relationships/image" Target="../media/celebration_2_4.jpeg"/><Relationship Id="rIdP5" Type="http://schemas.openxmlformats.org/officeDocument/2006/relationships/image" Target="../media/celebration_2_5.jpe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P1" Type="http://schemas.openxmlformats.org/officeDocument/2006/relationships/image" Target="../media/celebration_3_1.jpeg"/><Relationship Id="rIdP2" Type="http://schemas.openxmlformats.org/officeDocument/2006/relationships/image" Target="../media/celebration_3_2.jpeg"/><Relationship Id="rIdP3" Type="http://schemas.openxmlformats.org/officeDocument/2006/relationships/image" Target="../media/celebration_3_3.jpeg"/><Relationship Id="rIdP4" Type="http://schemas.openxmlformats.org/officeDocument/2006/relationships/image" Target="../media/celebration_3_4.jpeg"/><Relationship Id="rIdP5" Type="http://schemas.openxmlformats.org/officeDocument/2006/relationships/image" Target="../media/celebration_3_5.jpeg"/><Relationship Id="rIdP6" Type="http://schemas.openxmlformats.org/officeDocument/2006/relationships/image" Target="../media/celebration_3_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C85AF8-3849-20B7-81EC-94952A2FAD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People &amp;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663FC-0232-BF61-E9E7-6122FED6BD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7186" y="3224863"/>
            <a:ext cx="6289914" cy="436660"/>
          </a:xfrm>
        </p:spPr>
        <p:txBody>
          <a:bodyPr/>
          <a:lstStyle/>
          <a:p>
            <a:r>
              <a:rPr lang="en-US" dirty="0"/>
              <a:t>Overview for the Audit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3F79D-F02F-0E01-B1CE-3044E5E1F5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7772" y="5093866"/>
            <a:ext cx="6289914" cy="436660"/>
          </a:xfrm>
        </p:spPr>
        <p:txBody>
          <a:bodyPr/>
          <a:lstStyle/>
          <a:p>
            <a:r>
              <a:rPr lang="en-US" dirty="0" smtClean="0"/>
              <a:t>September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8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Executive Summary</a:t>
            </a:r>
          </a:p>
        </p:txBody>
      </p:sp>
      <p:sp>
        <p:nvSpPr>
          <p:cNvPr id="11" name="Subtitle 11"/>
          <p:cNvSpPr txBox="1"/>
          <p:nvPr/>
        </p:nvSpPr>
        <p:spPr>
          <a:xfrm>
            <a:off x="713740" y="1075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Calibri"/>
                <a:cs typeface="Calibri"/>
              </a:rPr>
              <a:t>Status of key learning &amp; development programmes and Great Place To Work® 2026 certification</a:t>
            </a:r>
          </a:p>
        </p:txBody>
      </p:sp>
      <p:sp>
        <p:nvSpPr>
          <p:cNvPr id="12" name="Card 12"/>
          <p:cNvSpPr/>
          <p:nvPr/>
        </p:nvSpPr>
        <p:spPr>
          <a:xfrm>
            <a:off x="622300" y="1530000"/>
            <a:ext cx="2616442" cy="2960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IconCircle 13"/>
          <p:cNvSpPr/>
          <p:nvPr/>
        </p:nvSpPr>
        <p:spPr>
          <a:xfrm>
            <a:off x="772300" y="1680000"/>
            <a:ext cx="480000" cy="480000"/>
          </a:xfrm>
          <a:prstGeom prst="ellipse">
            <a:avLst/>
          </a:prstGeom>
          <a:solidFill>
            <a:srgbClr val="1E27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SparX icon 14" descr="SparX icon"/>
          <p:cNvPicPr>
            <a:picLocks noChangeAspect="1"/>
          </p:cNvPicPr>
          <p:nvPr/>
        </p:nvPicPr>
        <p:blipFill>
          <a:blip r:embed="rIdI1"/>
          <a:stretch>
            <a:fillRect/>
          </a:stretch>
        </p:blipFill>
        <p:spPr>
          <a:xfrm>
            <a:off x="882300" y="1790000"/>
            <a:ext cx="260000" cy="260000"/>
          </a:xfrm>
          <a:prstGeom prst="rect">
            <a:avLst/>
          </a:prstGeom>
        </p:spPr>
      </p:pic>
      <p:sp>
        <p:nvSpPr>
          <p:cNvPr id="15" name="CardHead 15"/>
          <p:cNvSpPr txBox="1"/>
          <p:nvPr/>
        </p:nvSpPr>
        <p:spPr>
          <a:xfrm>
            <a:off x="1362300" y="1680000"/>
            <a:ext cx="1726442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E2771"/>
                </a:solidFill>
                <a:latin typeface="Calibri"/>
                <a:cs typeface="Calibri"/>
              </a:rPr>
              <a:t>SparX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Fresher talent transformation</a:t>
            </a:r>
          </a:p>
        </p:txBody>
      </p:sp>
      <p:sp>
        <p:nvSpPr>
          <p:cNvPr id="16" name="Stat 16"/>
          <p:cNvSpPr txBox="1"/>
          <p:nvPr/>
        </p:nvSpPr>
        <p:spPr>
          <a:xfrm>
            <a:off x="772300" y="2290000"/>
            <a:ext cx="231644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771"/>
                </a:solidFill>
                <a:latin typeface="Calibri"/>
                <a:cs typeface="Calibri"/>
              </a:rPr>
              <a:t>2,520</a:t>
            </a:r>
          </a:p>
        </p:txBody>
      </p:sp>
      <p:sp>
        <p:nvSpPr>
          <p:cNvPr id="17" name="StatLabel 17"/>
          <p:cNvSpPr txBox="1"/>
          <p:nvPr/>
        </p:nvSpPr>
        <p:spPr>
          <a:xfrm>
            <a:off x="772300" y="2790000"/>
            <a:ext cx="2316442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training man-hours delivered</a:t>
            </a:r>
          </a:p>
        </p:txBody>
      </p:sp>
      <p:sp>
        <p:nvSpPr>
          <p:cNvPr id="18" name="Bullets 18"/>
          <p:cNvSpPr txBox="1"/>
          <p:nvPr/>
        </p:nvSpPr>
        <p:spPr>
          <a:xfrm>
            <a:off x="772300" y="3140000"/>
            <a:ext cx="2316442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500"/>
              </a:spcAft>
              <a:buClr>
                <a:srgbClr val="1E2771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Batch 2 completed 1 Sep 2026 (23-day programme)</a:t>
            </a:r>
          </a:p>
          <a:p>
            <a:pPr marL="171450" indent="-171450" algn="l">
              <a:spcAft>
                <a:spcPts val="500"/>
              </a:spcAft>
              <a:buClr>
                <a:srgbClr val="1E2771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16 participants, incl. 11 fresher trainees</a:t>
            </a:r>
          </a:p>
          <a:p>
            <a:pPr marL="171450" indent="-171450" algn="l">
              <a:spcAft>
                <a:spcPts val="500"/>
              </a:spcAft>
              <a:buClr>
                <a:srgbClr val="1E2771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Hands-on lab, VR and core skills training</a:t>
            </a:r>
          </a:p>
        </p:txBody>
      </p:sp>
      <p:sp>
        <p:nvSpPr>
          <p:cNvPr id="19" name="Card 19"/>
          <p:cNvSpPr/>
          <p:nvPr/>
        </p:nvSpPr>
        <p:spPr>
          <a:xfrm>
            <a:off x="3421622" y="1530000"/>
            <a:ext cx="2616442" cy="2960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IconCircle 20"/>
          <p:cNvSpPr/>
          <p:nvPr/>
        </p:nvSpPr>
        <p:spPr>
          <a:xfrm>
            <a:off x="3571622" y="1680000"/>
            <a:ext cx="480000" cy="480000"/>
          </a:xfrm>
          <a:prstGeom prst="ellipse">
            <a:avLst/>
          </a:prstGeom>
          <a:solidFill>
            <a:srgbClr val="1A60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1" name="Managerial Excellence icon 21" descr="Managerial Excellence icon"/>
          <p:cNvPicPr>
            <a:picLocks noChangeAspect="1"/>
          </p:cNvPicPr>
          <p:nvPr/>
        </p:nvPicPr>
        <p:blipFill>
          <a:blip r:embed="rIdI2"/>
          <a:stretch>
            <a:fillRect/>
          </a:stretch>
        </p:blipFill>
        <p:spPr>
          <a:xfrm>
            <a:off x="3681622" y="1790000"/>
            <a:ext cx="260000" cy="260000"/>
          </a:xfrm>
          <a:prstGeom prst="rect">
            <a:avLst/>
          </a:prstGeom>
        </p:spPr>
      </p:pic>
      <p:sp>
        <p:nvSpPr>
          <p:cNvPr id="22" name="CardHead 22"/>
          <p:cNvSpPr txBox="1"/>
          <p:nvPr/>
        </p:nvSpPr>
        <p:spPr>
          <a:xfrm>
            <a:off x="4161622" y="1680000"/>
            <a:ext cx="1726442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E2771"/>
                </a:solidFill>
                <a:latin typeface="Calibri"/>
                <a:cs typeface="Calibri"/>
              </a:rPr>
              <a:t>Managerial Excellence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Leadership programme</a:t>
            </a:r>
          </a:p>
        </p:txBody>
      </p:sp>
      <p:sp>
        <p:nvSpPr>
          <p:cNvPr id="23" name="Stat 23"/>
          <p:cNvSpPr txBox="1"/>
          <p:nvPr/>
        </p:nvSpPr>
        <p:spPr>
          <a:xfrm>
            <a:off x="3571622" y="2290000"/>
            <a:ext cx="231644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A60AB"/>
                </a:solidFill>
                <a:latin typeface="Calibri"/>
                <a:cs typeface="Calibri"/>
              </a:rPr>
              <a:t>20</a:t>
            </a:r>
          </a:p>
        </p:txBody>
      </p:sp>
      <p:sp>
        <p:nvSpPr>
          <p:cNvPr id="24" name="StatLabel 24"/>
          <p:cNvSpPr txBox="1"/>
          <p:nvPr/>
        </p:nvSpPr>
        <p:spPr>
          <a:xfrm>
            <a:off x="3571622" y="2790000"/>
            <a:ext cx="2316442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leaders (M4 and above) enrolled</a:t>
            </a:r>
          </a:p>
        </p:txBody>
      </p:sp>
      <p:sp>
        <p:nvSpPr>
          <p:cNvPr id="25" name="Bullets 25"/>
          <p:cNvSpPr txBox="1"/>
          <p:nvPr/>
        </p:nvSpPr>
        <p:spPr>
          <a:xfrm>
            <a:off x="3571622" y="3140000"/>
            <a:ext cx="2316442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500"/>
              </a:spcAft>
              <a:buClr>
                <a:srgbClr val="1A60A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6 of 11 milestones completed; closure planned Jan 2027</a:t>
            </a:r>
          </a:p>
          <a:p>
            <a:pPr marL="171450" indent="-171450" algn="l">
              <a:spcAft>
                <a:spcPts val="500"/>
              </a:spcAft>
              <a:buClr>
                <a:srgbClr val="1A60A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Average session rating of 4.5 / 5</a:t>
            </a:r>
          </a:p>
          <a:p>
            <a:pPr marL="171450" indent="-171450" algn="l">
              <a:spcAft>
                <a:spcPts val="500"/>
              </a:spcAft>
              <a:buClr>
                <a:srgbClr val="1A60AB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Modules span self, people and performance leadership</a:t>
            </a:r>
          </a:p>
        </p:txBody>
      </p:sp>
      <p:sp>
        <p:nvSpPr>
          <p:cNvPr id="26" name="Card 26"/>
          <p:cNvSpPr/>
          <p:nvPr/>
        </p:nvSpPr>
        <p:spPr>
          <a:xfrm>
            <a:off x="6220945" y="1530000"/>
            <a:ext cx="2616442" cy="2960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IconCircle 27"/>
          <p:cNvSpPr/>
          <p:nvPr/>
        </p:nvSpPr>
        <p:spPr>
          <a:xfrm>
            <a:off x="6370945" y="1680000"/>
            <a:ext cx="480000" cy="480000"/>
          </a:xfrm>
          <a:prstGeom prst="ellipse">
            <a:avLst/>
          </a:prstGeom>
          <a:solidFill>
            <a:srgbClr val="03B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8" name="LearnX LMS icon 28" descr="LearnX LMS icon"/>
          <p:cNvPicPr>
            <a:picLocks noChangeAspect="1"/>
          </p:cNvPicPr>
          <p:nvPr/>
        </p:nvPicPr>
        <p:blipFill>
          <a:blip r:embed="rIdI3"/>
          <a:stretch>
            <a:fillRect/>
          </a:stretch>
        </p:blipFill>
        <p:spPr>
          <a:xfrm>
            <a:off x="6480945" y="1790000"/>
            <a:ext cx="260000" cy="260000"/>
          </a:xfrm>
          <a:prstGeom prst="rect">
            <a:avLst/>
          </a:prstGeom>
        </p:spPr>
      </p:pic>
      <p:sp>
        <p:nvSpPr>
          <p:cNvPr id="29" name="CardHead 29"/>
          <p:cNvSpPr txBox="1"/>
          <p:nvPr/>
        </p:nvSpPr>
        <p:spPr>
          <a:xfrm>
            <a:off x="6960945" y="1680000"/>
            <a:ext cx="1726442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E2771"/>
                </a:solidFill>
                <a:latin typeface="Calibri"/>
                <a:cs typeface="Calibri"/>
              </a:rPr>
              <a:t>LearnX LMS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Digital learning platform</a:t>
            </a:r>
          </a:p>
        </p:txBody>
      </p:sp>
      <p:sp>
        <p:nvSpPr>
          <p:cNvPr id="30" name="Stat 30"/>
          <p:cNvSpPr txBox="1"/>
          <p:nvPr/>
        </p:nvSpPr>
        <p:spPr>
          <a:xfrm>
            <a:off x="6370945" y="2290000"/>
            <a:ext cx="231644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0393BB"/>
                </a:solidFill>
                <a:latin typeface="Calibri"/>
                <a:cs typeface="Calibri"/>
              </a:rPr>
              <a:t>500+</a:t>
            </a:r>
          </a:p>
        </p:txBody>
      </p:sp>
      <p:sp>
        <p:nvSpPr>
          <p:cNvPr id="31" name="StatLabel 31"/>
          <p:cNvSpPr txBox="1"/>
          <p:nvPr/>
        </p:nvSpPr>
        <p:spPr>
          <a:xfrm>
            <a:off x="6370945" y="2790000"/>
            <a:ext cx="2316442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employees have used LearnX</a:t>
            </a:r>
          </a:p>
        </p:txBody>
      </p:sp>
      <p:sp>
        <p:nvSpPr>
          <p:cNvPr id="32" name="Bullets 32"/>
          <p:cNvSpPr txBox="1"/>
          <p:nvPr/>
        </p:nvSpPr>
        <p:spPr>
          <a:xfrm>
            <a:off x="6370945" y="3140000"/>
            <a:ext cx="2316442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500"/>
              </a:spcAft>
              <a:buClr>
                <a:srgbClr val="03B5E5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Launched 26 Aug 2026 (Enzene India &amp; Inc.)</a:t>
            </a:r>
          </a:p>
          <a:p>
            <a:pPr marL="171450" indent="-171450" algn="l">
              <a:spcAft>
                <a:spcPts val="500"/>
              </a:spcAft>
              <a:buClr>
                <a:srgbClr val="03B5E5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Leadership, communication, digital &amp; AI and technical courses</a:t>
            </a:r>
          </a:p>
          <a:p>
            <a:pPr marL="171450" indent="-171450" algn="l">
              <a:spcAft>
                <a:spcPts val="500"/>
              </a:spcAft>
              <a:buClr>
                <a:srgbClr val="03B5E5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Refreshed interface rolling out in Oct</a:t>
            </a:r>
          </a:p>
        </p:txBody>
      </p:sp>
      <p:sp>
        <p:nvSpPr>
          <p:cNvPr id="33" name="Card 33"/>
          <p:cNvSpPr/>
          <p:nvPr/>
        </p:nvSpPr>
        <p:spPr>
          <a:xfrm>
            <a:off x="9020267" y="1530000"/>
            <a:ext cx="2616442" cy="2960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IconCircle 34"/>
          <p:cNvSpPr/>
          <p:nvPr/>
        </p:nvSpPr>
        <p:spPr>
          <a:xfrm>
            <a:off x="9170267" y="1680000"/>
            <a:ext cx="480000" cy="480000"/>
          </a:xfrm>
          <a:prstGeom prst="ellipse">
            <a:avLst/>
          </a:prstGeom>
          <a:solidFill>
            <a:srgbClr val="F578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5" name="Great Place To Work® icon 35" descr="Great Place To Work® icon"/>
          <p:cNvPicPr>
            <a:picLocks noChangeAspect="1"/>
          </p:cNvPicPr>
          <p:nvPr/>
        </p:nvPicPr>
        <p:blipFill>
          <a:blip r:embed="rIdI4"/>
          <a:stretch>
            <a:fillRect/>
          </a:stretch>
        </p:blipFill>
        <p:spPr>
          <a:xfrm>
            <a:off x="9280267" y="1790000"/>
            <a:ext cx="260000" cy="260000"/>
          </a:xfrm>
          <a:prstGeom prst="rect">
            <a:avLst/>
          </a:prstGeom>
        </p:spPr>
      </p:pic>
      <p:sp>
        <p:nvSpPr>
          <p:cNvPr id="36" name="CardHead 36"/>
          <p:cNvSpPr txBox="1"/>
          <p:nvPr/>
        </p:nvSpPr>
        <p:spPr>
          <a:xfrm>
            <a:off x="9760267" y="1680000"/>
            <a:ext cx="1726442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E2771"/>
                </a:solidFill>
                <a:latin typeface="Calibri"/>
                <a:cs typeface="Calibri"/>
              </a:rPr>
              <a:t>Great Place To Work®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2026 certification</a:t>
            </a:r>
          </a:p>
        </p:txBody>
      </p:sp>
      <p:sp>
        <p:nvSpPr>
          <p:cNvPr id="37" name="Stat 37"/>
          <p:cNvSpPr txBox="1"/>
          <p:nvPr/>
        </p:nvSpPr>
        <p:spPr>
          <a:xfrm>
            <a:off x="9170267" y="2290000"/>
            <a:ext cx="231644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F57833"/>
                </a:solidFill>
                <a:latin typeface="Calibri"/>
                <a:cs typeface="Calibri"/>
              </a:rPr>
              <a:t>96%</a:t>
            </a:r>
          </a:p>
        </p:txBody>
      </p:sp>
      <p:sp>
        <p:nvSpPr>
          <p:cNvPr id="38" name="StatLabel 38"/>
          <p:cNvSpPr txBox="1"/>
          <p:nvPr/>
        </p:nvSpPr>
        <p:spPr>
          <a:xfrm>
            <a:off x="9170267" y="2790000"/>
            <a:ext cx="2316442" cy="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survey response rate (84% in 2025)</a:t>
            </a:r>
          </a:p>
        </p:txBody>
      </p:sp>
      <p:sp>
        <p:nvSpPr>
          <p:cNvPr id="39" name="Bullets 39"/>
          <p:cNvSpPr txBox="1"/>
          <p:nvPr/>
        </p:nvSpPr>
        <p:spPr>
          <a:xfrm>
            <a:off x="9170267" y="3140000"/>
            <a:ext cx="2316442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500"/>
              </a:spcAft>
              <a:buClr>
                <a:srgbClr val="F57833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Certification retained (Jan 2026 – Jan 2027)</a:t>
            </a:r>
          </a:p>
          <a:p>
            <a:pPr marL="171450" indent="-171450" algn="l">
              <a:spcAft>
                <a:spcPts val="500"/>
              </a:spcAft>
              <a:buClr>
                <a:srgbClr val="F57833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586 of 611 employees took part in the 2026 survey</a:t>
            </a:r>
          </a:p>
          <a:p>
            <a:pPr marL="171450" indent="-171450" algn="l">
              <a:spcAft>
                <a:spcPts val="500"/>
              </a:spcAft>
              <a:buClr>
                <a:srgbClr val="F57833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Survey run by Great Place To Work® Institute, India</a:t>
            </a:r>
          </a:p>
        </p:txBody>
      </p:sp>
      <p:sp>
        <p:nvSpPr>
          <p:cNvPr id="40" name="NextBand 40"/>
          <p:cNvSpPr/>
          <p:nvPr/>
        </p:nvSpPr>
        <p:spPr>
          <a:xfrm>
            <a:off x="622300" y="4660000"/>
            <a:ext cx="11014410" cy="980000"/>
          </a:xfrm>
          <a:prstGeom prst="roundRect">
            <a:avLst>
              <a:gd name="adj" fmla="val 8000"/>
            </a:avLst>
          </a:prstGeom>
          <a:solidFill>
            <a:srgbClr val="1E27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IconCircle 41"/>
          <p:cNvSpPr/>
          <p:nvPr/>
        </p:nvSpPr>
        <p:spPr>
          <a:xfrm>
            <a:off x="802300" y="4910000"/>
            <a:ext cx="480000" cy="480000"/>
          </a:xfrm>
          <a:prstGeom prst="ellipse">
            <a:avLst/>
          </a:prstGeom>
          <a:solidFill>
            <a:srgbClr val="F578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2" name="Next steps icon 42" descr="Next steps icon"/>
          <p:cNvPicPr>
            <a:picLocks noChangeAspect="1"/>
          </p:cNvPicPr>
          <p:nvPr/>
        </p:nvPicPr>
        <p:blipFill>
          <a:blip r:embed="rIdI5"/>
          <a:stretch>
            <a:fillRect/>
          </a:stretch>
        </p:blipFill>
        <p:spPr>
          <a:xfrm>
            <a:off x="912300" y="5020000"/>
            <a:ext cx="260000" cy="260000"/>
          </a:xfrm>
          <a:prstGeom prst="rect">
            <a:avLst/>
          </a:prstGeom>
        </p:spPr>
      </p:pic>
      <p:sp>
        <p:nvSpPr>
          <p:cNvPr id="43" name="NextLabel 43"/>
          <p:cNvSpPr txBox="1"/>
          <p:nvPr/>
        </p:nvSpPr>
        <p:spPr>
          <a:xfrm>
            <a:off x="1402300" y="4660000"/>
            <a:ext cx="1500000" cy="9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Next steps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BFD9F2"/>
                </a:solidFill>
                <a:latin typeface="Calibri"/>
                <a:cs typeface="Calibri"/>
              </a:rPr>
              <a:t>Oct 2026 – Jan 2027</a:t>
            </a:r>
          </a:p>
        </p:txBody>
      </p:sp>
      <p:sp>
        <p:nvSpPr>
          <p:cNvPr id="44" name="StepNum 44"/>
          <p:cNvSpPr txBox="1"/>
          <p:nvPr/>
        </p:nvSpPr>
        <p:spPr>
          <a:xfrm>
            <a:off x="3022300" y="4810000"/>
            <a:ext cx="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57833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45" name="StepText 45"/>
          <p:cNvSpPr txBox="1"/>
          <p:nvPr/>
        </p:nvSpPr>
        <p:spPr>
          <a:xfrm>
            <a:off x="3352300" y="4810000"/>
            <a:ext cx="1628602" cy="6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FFFFFF"/>
                </a:solidFill>
                <a:latin typeface="Calibri"/>
                <a:cs typeface="Calibri"/>
              </a:rPr>
              <a:t>Set up a Buffer Preparation Lab in the Learning Academy</a:t>
            </a:r>
          </a:p>
        </p:txBody>
      </p:sp>
      <p:sp>
        <p:nvSpPr>
          <p:cNvPr id="46" name="StepNum 46"/>
          <p:cNvSpPr txBox="1"/>
          <p:nvPr/>
        </p:nvSpPr>
        <p:spPr>
          <a:xfrm>
            <a:off x="5130902" y="4810000"/>
            <a:ext cx="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57833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47" name="StepText 47"/>
          <p:cNvSpPr txBox="1"/>
          <p:nvPr/>
        </p:nvSpPr>
        <p:spPr>
          <a:xfrm>
            <a:off x="5460902" y="4810000"/>
            <a:ext cx="1628602" cy="6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FFFFFF"/>
                </a:solidFill>
                <a:latin typeface="Calibri"/>
                <a:cs typeface="Calibri"/>
              </a:rPr>
              <a:t>Deliver the “Winning Together” MEP module on 9 Oct 2026</a:t>
            </a:r>
          </a:p>
        </p:txBody>
      </p:sp>
      <p:sp>
        <p:nvSpPr>
          <p:cNvPr id="48" name="StepNum 48"/>
          <p:cNvSpPr txBox="1"/>
          <p:nvPr/>
        </p:nvSpPr>
        <p:spPr>
          <a:xfrm>
            <a:off x="7239505" y="4810000"/>
            <a:ext cx="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57833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49" name="StepText 49"/>
          <p:cNvSpPr txBox="1"/>
          <p:nvPr/>
        </p:nvSpPr>
        <p:spPr>
          <a:xfrm>
            <a:off x="7569505" y="4810000"/>
            <a:ext cx="1628602" cy="6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FFFFFF"/>
                </a:solidFill>
                <a:latin typeface="Calibri"/>
                <a:cs typeface="Calibri"/>
              </a:rPr>
              <a:t>Run SparX impact reviews: 30-day (Batch 2) and 60-day (Batch 1)</a:t>
            </a:r>
          </a:p>
        </p:txBody>
      </p:sp>
      <p:sp>
        <p:nvSpPr>
          <p:cNvPr id="50" name="StepNum 50"/>
          <p:cNvSpPr txBox="1"/>
          <p:nvPr/>
        </p:nvSpPr>
        <p:spPr>
          <a:xfrm>
            <a:off x="9348107" y="4810000"/>
            <a:ext cx="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57833"/>
                </a:solidFill>
                <a:latin typeface="Calibri"/>
                <a:cs typeface="Calibri"/>
              </a:rPr>
              <a:t>04</a:t>
            </a:r>
          </a:p>
        </p:txBody>
      </p:sp>
      <p:sp>
        <p:nvSpPr>
          <p:cNvPr id="51" name="StepText 51"/>
          <p:cNvSpPr txBox="1"/>
          <p:nvPr/>
        </p:nvSpPr>
        <p:spPr>
          <a:xfrm>
            <a:off x="9678107" y="4810000"/>
            <a:ext cx="1628602" cy="6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FFFFFF"/>
                </a:solidFill>
                <a:latin typeface="Calibri"/>
                <a:cs typeface="Calibri"/>
              </a:rPr>
              <a:t>Expand the LearnX video library with technical and behavioural courses</a:t>
            </a:r>
          </a:p>
        </p:txBody>
      </p:sp>
      <p:sp>
        <p:nvSpPr>
          <p:cNvPr id="52" name="Source 52"/>
          <p:cNvSpPr txBox="1"/>
          <p:nvPr/>
        </p:nvSpPr>
        <p:spPr>
          <a:xfrm>
            <a:off x="2372300" y="5720000"/>
            <a:ext cx="8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7F7F7F"/>
                </a:solidFill>
                <a:latin typeface="Calibri"/>
                <a:cs typeface="Calibri"/>
              </a:rPr>
              <a:t>Source: Learning Data – Monthly Closing Deck (Sep 2026); Great Place To Work® 2026 survey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70700"/>
            <a:chOff x="-6350" y="-6350"/>
            <a:chExt cx="12204700" cy="68707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60A2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64826" y="0"/>
              <a:ext cx="6727173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85800" y="2385425"/>
            <a:ext cx="596816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Thank you</a:t>
            </a:r>
            <a:endParaRPr kumimoji="0" sz="5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800" y="5996942"/>
            <a:ext cx="3305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Passion.</a:t>
            </a:r>
            <a:r>
              <a:rPr kumimoji="0" sz="1800" b="1" i="0" u="none" strike="noStrike" kern="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3B5E5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Innovation.</a:t>
            </a:r>
            <a:r>
              <a:rPr kumimoji="0" sz="1800" b="1" i="0" u="none" strike="noStrike" kern="0" cap="none" spc="-95" normalizeH="0" baseline="0" noProof="0" dirty="0">
                <a:ln>
                  <a:noFill/>
                </a:ln>
                <a:solidFill>
                  <a:srgbClr val="03B5E5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F57833"/>
                </a:solidFill>
                <a:effectLst/>
                <a:uLnTx/>
                <a:uFillTx/>
                <a:latin typeface="Verdana"/>
                <a:ea typeface="+mn-ea"/>
                <a:cs typeface="Verdana"/>
              </a:rPr>
              <a:t>Life.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BE74DF-357E-4554-8C4D-A6BA0D5DD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11198"/>
            <a:ext cx="3099391" cy="138494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C31798-4144-4BBC-51F1-FB9AAB05C67F}"/>
              </a:ext>
            </a:extLst>
          </p:cNvPr>
          <p:cNvSpPr txBox="1">
            <a:spLocks/>
          </p:cNvSpPr>
          <p:nvPr/>
        </p:nvSpPr>
        <p:spPr>
          <a:xfrm>
            <a:off x="685800" y="3518533"/>
            <a:ext cx="6289914" cy="43666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more information visit www.enzene.com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Great Place To Work® 2026</a:t>
            </a:r>
          </a:p>
        </p:txBody>
      </p:sp>
      <p:sp>
        <p:nvSpPr>
          <p:cNvPr id="125" name="Subtitle 125"/>
          <p:cNvSpPr txBox="1"/>
          <p:nvPr/>
        </p:nvSpPr>
        <p:spPr>
          <a:xfrm>
            <a:off x="713740" y="1075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Calibri"/>
                <a:cs typeface="Calibri"/>
              </a:rPr>
              <a:t>Certification retained for 2026, with a marked rise in employee survey participation</a:t>
            </a:r>
          </a:p>
        </p:txBody>
      </p:sp>
      <p:sp>
        <p:nvSpPr>
          <p:cNvPr id="126" name="Card 126"/>
          <p:cNvSpPr/>
          <p:nvPr/>
        </p:nvSpPr>
        <p:spPr>
          <a:xfrm>
            <a:off x="622300" y="1530000"/>
            <a:ext cx="2700000" cy="4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7" name="Great Place To Work Certified badge 127" descr="Great Place To Work Certified badge"/>
          <p:cNvPicPr>
            <a:picLocks noChangeAspect="1"/>
          </p:cNvPicPr>
          <p:nvPr/>
        </p:nvPicPr>
        <p:blipFill>
          <a:blip r:embed="rIdB"/>
          <a:stretch>
            <a:fillRect/>
          </a:stretch>
        </p:blipFill>
        <p:spPr>
          <a:xfrm>
            <a:off x="1052945" y="1750000"/>
            <a:ext cx="1838709" cy="3000000"/>
          </a:xfrm>
          <a:prstGeom prst="rect">
            <a:avLst/>
          </a:prstGeom>
        </p:spPr>
      </p:pic>
      <p:sp>
        <p:nvSpPr>
          <p:cNvPr id="128" name="BadgeCaption 128"/>
          <p:cNvSpPr txBox="1"/>
          <p:nvPr/>
        </p:nvSpPr>
        <p:spPr>
          <a:xfrm>
            <a:off x="772300" y="4860000"/>
            <a:ext cx="24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E2771"/>
                </a:solidFill>
                <a:latin typeface="Calibri"/>
                <a:cs typeface="Calibri"/>
              </a:rPr>
              <a:t>Certification valid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Jan 2026 – Jan 2027</a:t>
            </a:r>
          </a:p>
        </p:txBody>
      </p:sp>
      <p:sp>
        <p:nvSpPr>
          <p:cNvPr id="129" name="StatTile 129"/>
          <p:cNvSpPr/>
          <p:nvPr/>
        </p:nvSpPr>
        <p:spPr>
          <a:xfrm>
            <a:off x="3505180" y="1530000"/>
            <a:ext cx="2588590" cy="1150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0" name="Stat 130"/>
          <p:cNvSpPr txBox="1"/>
          <p:nvPr/>
        </p:nvSpPr>
        <p:spPr>
          <a:xfrm>
            <a:off x="3655180" y="1650000"/>
            <a:ext cx="228859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F57833"/>
                </a:solidFill>
                <a:latin typeface="Calibri"/>
                <a:cs typeface="Calibri"/>
              </a:rPr>
              <a:t>96%</a:t>
            </a:r>
          </a:p>
        </p:txBody>
      </p:sp>
      <p:sp>
        <p:nvSpPr>
          <p:cNvPr id="131" name="StatLabel 131"/>
          <p:cNvSpPr txBox="1"/>
          <p:nvPr/>
        </p:nvSpPr>
        <p:spPr>
          <a:xfrm>
            <a:off x="3655180" y="2230000"/>
            <a:ext cx="228859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survey response rate in 2026</a:t>
            </a:r>
          </a:p>
        </p:txBody>
      </p:sp>
      <p:sp>
        <p:nvSpPr>
          <p:cNvPr id="132" name="StatTile 132"/>
          <p:cNvSpPr/>
          <p:nvPr/>
        </p:nvSpPr>
        <p:spPr>
          <a:xfrm>
            <a:off x="6276650" y="1530000"/>
            <a:ext cx="2588590" cy="1150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Stat 133"/>
          <p:cNvSpPr txBox="1"/>
          <p:nvPr/>
        </p:nvSpPr>
        <p:spPr>
          <a:xfrm>
            <a:off x="6426650" y="1650000"/>
            <a:ext cx="228859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771"/>
                </a:solidFill>
                <a:latin typeface="Calibri"/>
                <a:cs typeface="Calibri"/>
              </a:rPr>
              <a:t>+12 pts</a:t>
            </a:r>
          </a:p>
        </p:txBody>
      </p:sp>
      <p:sp>
        <p:nvSpPr>
          <p:cNvPr id="134" name="StatLabel 134"/>
          <p:cNvSpPr txBox="1"/>
          <p:nvPr/>
        </p:nvSpPr>
        <p:spPr>
          <a:xfrm>
            <a:off x="6426650" y="2230000"/>
            <a:ext cx="228859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increase in participation vs 2025</a:t>
            </a:r>
          </a:p>
        </p:txBody>
      </p:sp>
      <p:sp>
        <p:nvSpPr>
          <p:cNvPr id="135" name="StatTile 135"/>
          <p:cNvSpPr/>
          <p:nvPr/>
        </p:nvSpPr>
        <p:spPr>
          <a:xfrm>
            <a:off x="9048120" y="1530000"/>
            <a:ext cx="2588590" cy="1150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6" name="Stat 136"/>
          <p:cNvSpPr txBox="1"/>
          <p:nvPr/>
        </p:nvSpPr>
        <p:spPr>
          <a:xfrm>
            <a:off x="9198120" y="1650000"/>
            <a:ext cx="228859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A60AB"/>
                </a:solidFill>
                <a:latin typeface="Calibri"/>
                <a:cs typeface="Calibri"/>
              </a:rPr>
              <a:t>611</a:t>
            </a:r>
          </a:p>
        </p:txBody>
      </p:sp>
      <p:sp>
        <p:nvSpPr>
          <p:cNvPr id="137" name="StatLabel 137"/>
          <p:cNvSpPr txBox="1"/>
          <p:nvPr/>
        </p:nvSpPr>
        <p:spPr>
          <a:xfrm>
            <a:off x="9198120" y="2230000"/>
            <a:ext cx="228859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  <a:latin typeface="Calibri"/>
                <a:cs typeface="Calibri"/>
              </a:rPr>
              <a:t>employees invited to the survey</a:t>
            </a:r>
          </a:p>
        </p:txBody>
      </p:sp>
      <p:sp>
        <p:nvSpPr>
          <p:cNvPr id="138" name="Card 138"/>
          <p:cNvSpPr/>
          <p:nvPr/>
        </p:nvSpPr>
        <p:spPr>
          <a:xfrm>
            <a:off x="3505180" y="2902880"/>
            <a:ext cx="8131530" cy="145000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9" name="IconCircle 139"/>
          <p:cNvSpPr/>
          <p:nvPr/>
        </p:nvSpPr>
        <p:spPr>
          <a:xfrm>
            <a:off x="3655180" y="3052880"/>
            <a:ext cx="480000" cy="480000"/>
          </a:xfrm>
          <a:prstGeom prst="ellipse">
            <a:avLst/>
          </a:prstGeom>
          <a:solidFill>
            <a:srgbClr val="F578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0" name="Participation icon 140" descr="Participation icon"/>
          <p:cNvPicPr>
            <a:picLocks noChangeAspect="1"/>
          </p:cNvPicPr>
          <p:nvPr/>
        </p:nvPicPr>
        <p:blipFill>
          <a:blip r:embed="rIdI6"/>
          <a:stretch>
            <a:fillRect/>
          </a:stretch>
        </p:blipFill>
        <p:spPr>
          <a:xfrm>
            <a:off x="3765180" y="3162880"/>
            <a:ext cx="260000" cy="260000"/>
          </a:xfrm>
          <a:prstGeom prst="rect">
            <a:avLst/>
          </a:prstGeom>
        </p:spPr>
      </p:pic>
      <p:sp>
        <p:nvSpPr>
          <p:cNvPr id="141" name="CardHead 141"/>
          <p:cNvSpPr txBox="1"/>
          <p:nvPr/>
        </p:nvSpPr>
        <p:spPr>
          <a:xfrm>
            <a:off x="4245180" y="3052880"/>
            <a:ext cx="40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E2771"/>
                </a:solidFill>
                <a:latin typeface="Calibri"/>
                <a:cs typeface="Calibri"/>
              </a:rPr>
              <a:t>Survey participation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Trust Index© survey, Study 2025 vs Study 2026</a:t>
            </a:r>
          </a:p>
        </p:txBody>
      </p:sp>
      <p:sp>
        <p:nvSpPr>
          <p:cNvPr id="142" name="BarLabel 142"/>
          <p:cNvSpPr txBox="1"/>
          <p:nvPr/>
        </p:nvSpPr>
        <p:spPr>
          <a:xfrm>
            <a:off x="3655180" y="368288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71"/>
                </a:solidFill>
                <a:latin typeface="Calibri"/>
                <a:cs typeface="Calibri"/>
              </a:rPr>
              <a:t>2025</a:t>
            </a:r>
          </a:p>
        </p:txBody>
      </p:sp>
      <p:sp>
        <p:nvSpPr>
          <p:cNvPr id="143" name="BarTrack 143"/>
          <p:cNvSpPr/>
          <p:nvPr/>
        </p:nvSpPr>
        <p:spPr>
          <a:xfrm>
            <a:off x="4555180" y="3722880"/>
            <a:ext cx="5031530" cy="1400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BarFill 144"/>
          <p:cNvSpPr/>
          <p:nvPr/>
        </p:nvSpPr>
        <p:spPr>
          <a:xfrm>
            <a:off x="4555180" y="3722880"/>
            <a:ext cx="4226485" cy="140000"/>
          </a:xfrm>
          <a:prstGeom prst="roundRect">
            <a:avLst>
              <a:gd name="adj" fmla="val 50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BarValue 145"/>
          <p:cNvSpPr txBox="1"/>
          <p:nvPr/>
        </p:nvSpPr>
        <p:spPr>
          <a:xfrm>
            <a:off x="9706710" y="3682880"/>
            <a:ext cx="178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71"/>
                </a:solidFill>
                <a:latin typeface="Calibri"/>
                <a:cs typeface="Calibri"/>
              </a:rPr>
              <a:t>84%</a:t>
            </a: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  (514 of 610 employees)</a:t>
            </a:r>
          </a:p>
        </p:txBody>
      </p:sp>
      <p:sp>
        <p:nvSpPr>
          <p:cNvPr id="146" name="BarLabel 146"/>
          <p:cNvSpPr txBox="1"/>
          <p:nvPr/>
        </p:nvSpPr>
        <p:spPr>
          <a:xfrm>
            <a:off x="3655180" y="398288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71"/>
                </a:solidFill>
                <a:latin typeface="Calibri"/>
                <a:cs typeface="Calibri"/>
              </a:rPr>
              <a:t>2026</a:t>
            </a:r>
          </a:p>
        </p:txBody>
      </p:sp>
      <p:sp>
        <p:nvSpPr>
          <p:cNvPr id="147" name="BarTrack 147"/>
          <p:cNvSpPr/>
          <p:nvPr/>
        </p:nvSpPr>
        <p:spPr>
          <a:xfrm>
            <a:off x="4555180" y="4022880"/>
            <a:ext cx="5031530" cy="1400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BarFill 148"/>
          <p:cNvSpPr/>
          <p:nvPr/>
        </p:nvSpPr>
        <p:spPr>
          <a:xfrm>
            <a:off x="4555180" y="4022880"/>
            <a:ext cx="4830268" cy="140000"/>
          </a:xfrm>
          <a:prstGeom prst="roundRect">
            <a:avLst>
              <a:gd name="adj" fmla="val 50000"/>
            </a:avLst>
          </a:prstGeom>
          <a:solidFill>
            <a:srgbClr val="F578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BarValue 149"/>
          <p:cNvSpPr txBox="1"/>
          <p:nvPr/>
        </p:nvSpPr>
        <p:spPr>
          <a:xfrm>
            <a:off x="9706710" y="3982880"/>
            <a:ext cx="178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E2771"/>
                </a:solidFill>
                <a:latin typeface="Calibri"/>
                <a:cs typeface="Calibri"/>
              </a:rPr>
              <a:t>96%</a:t>
            </a: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  (586 of 611 employees)</a:t>
            </a:r>
          </a:p>
        </p:txBody>
      </p:sp>
      <p:sp>
        <p:nvSpPr>
          <p:cNvPr id="150" name="Card 150"/>
          <p:cNvSpPr/>
          <p:nvPr/>
        </p:nvSpPr>
        <p:spPr>
          <a:xfrm>
            <a:off x="3505180" y="4575760"/>
            <a:ext cx="8131530" cy="103424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1" name="DimHead 151"/>
          <p:cNvSpPr txBox="1"/>
          <p:nvPr/>
        </p:nvSpPr>
        <p:spPr>
          <a:xfrm>
            <a:off x="3655180" y="4575760"/>
            <a:ext cx="2300000" cy="1034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E2771"/>
                </a:solidFill>
                <a:latin typeface="Calibri"/>
                <a:cs typeface="Calibri"/>
              </a:rPr>
              <a:t>What the survey measures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Five Trust Index© dimensions</a:t>
            </a:r>
          </a:p>
        </p:txBody>
      </p:sp>
      <p:sp>
        <p:nvSpPr>
          <p:cNvPr id="152" name="DimChip 152"/>
          <p:cNvSpPr/>
          <p:nvPr/>
        </p:nvSpPr>
        <p:spPr>
          <a:xfrm>
            <a:off x="6055180" y="4902880"/>
            <a:ext cx="1006306" cy="380000"/>
          </a:xfrm>
          <a:prstGeom prst="roundRect">
            <a:avLst>
              <a:gd name="adj" fmla="val 50000"/>
            </a:avLst>
          </a:prstGeom>
          <a:solidFill>
            <a:srgbClr val="1E27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DimText 153"/>
          <p:cNvSpPr txBox="1"/>
          <p:nvPr/>
        </p:nvSpPr>
        <p:spPr>
          <a:xfrm>
            <a:off x="6055180" y="4902880"/>
            <a:ext cx="1006306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>Credibility</a:t>
            </a:r>
          </a:p>
        </p:txBody>
      </p:sp>
      <p:sp>
        <p:nvSpPr>
          <p:cNvPr id="154" name="DimChip 154"/>
          <p:cNvSpPr/>
          <p:nvPr/>
        </p:nvSpPr>
        <p:spPr>
          <a:xfrm>
            <a:off x="7161486" y="4902880"/>
            <a:ext cx="1006306" cy="380000"/>
          </a:xfrm>
          <a:prstGeom prst="roundRect">
            <a:avLst>
              <a:gd name="adj" fmla="val 50000"/>
            </a:avLst>
          </a:prstGeom>
          <a:solidFill>
            <a:srgbClr val="1E27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DimText 155"/>
          <p:cNvSpPr txBox="1"/>
          <p:nvPr/>
        </p:nvSpPr>
        <p:spPr>
          <a:xfrm>
            <a:off x="7161486" y="4902880"/>
            <a:ext cx="1006306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>Respect</a:t>
            </a:r>
          </a:p>
        </p:txBody>
      </p:sp>
      <p:sp>
        <p:nvSpPr>
          <p:cNvPr id="156" name="DimChip 156"/>
          <p:cNvSpPr/>
          <p:nvPr/>
        </p:nvSpPr>
        <p:spPr>
          <a:xfrm>
            <a:off x="8267792" y="4902880"/>
            <a:ext cx="1006306" cy="380000"/>
          </a:xfrm>
          <a:prstGeom prst="roundRect">
            <a:avLst>
              <a:gd name="adj" fmla="val 50000"/>
            </a:avLst>
          </a:prstGeom>
          <a:solidFill>
            <a:srgbClr val="1E27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DimText 157"/>
          <p:cNvSpPr txBox="1"/>
          <p:nvPr/>
        </p:nvSpPr>
        <p:spPr>
          <a:xfrm>
            <a:off x="8267792" y="4902880"/>
            <a:ext cx="1006306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>Fairness</a:t>
            </a:r>
          </a:p>
        </p:txBody>
      </p:sp>
      <p:sp>
        <p:nvSpPr>
          <p:cNvPr id="158" name="DimChip 158"/>
          <p:cNvSpPr/>
          <p:nvPr/>
        </p:nvSpPr>
        <p:spPr>
          <a:xfrm>
            <a:off x="9374098" y="4902880"/>
            <a:ext cx="1006306" cy="380000"/>
          </a:xfrm>
          <a:prstGeom prst="roundRect">
            <a:avLst>
              <a:gd name="adj" fmla="val 50000"/>
            </a:avLst>
          </a:prstGeom>
          <a:solidFill>
            <a:srgbClr val="1E27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DimText 159"/>
          <p:cNvSpPr txBox="1"/>
          <p:nvPr/>
        </p:nvSpPr>
        <p:spPr>
          <a:xfrm>
            <a:off x="9374098" y="4902880"/>
            <a:ext cx="1006306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>Pride</a:t>
            </a:r>
          </a:p>
        </p:txBody>
      </p:sp>
      <p:sp>
        <p:nvSpPr>
          <p:cNvPr id="160" name="DimChip 160"/>
          <p:cNvSpPr/>
          <p:nvPr/>
        </p:nvSpPr>
        <p:spPr>
          <a:xfrm>
            <a:off x="10480404" y="4902880"/>
            <a:ext cx="1006306" cy="380000"/>
          </a:xfrm>
          <a:prstGeom prst="roundRect">
            <a:avLst>
              <a:gd name="adj" fmla="val 50000"/>
            </a:avLst>
          </a:prstGeom>
          <a:solidFill>
            <a:srgbClr val="1E27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DimText 161"/>
          <p:cNvSpPr txBox="1"/>
          <p:nvPr/>
        </p:nvSpPr>
        <p:spPr>
          <a:xfrm>
            <a:off x="10480404" y="4902880"/>
            <a:ext cx="1006306" cy="3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>Camaraderie</a:t>
            </a:r>
          </a:p>
        </p:txBody>
      </p:sp>
      <p:sp>
        <p:nvSpPr>
          <p:cNvPr id="162" name="Source 162"/>
          <p:cNvSpPr txBox="1"/>
          <p:nvPr/>
        </p:nvSpPr>
        <p:spPr>
          <a:xfrm>
            <a:off x="2372300" y="5720000"/>
            <a:ext cx="8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7F7F7F"/>
                </a:solidFill>
                <a:latin typeface="Calibri"/>
                <a:cs typeface="Calibri"/>
              </a:rPr>
              <a:t>Source: Great Place To Work® Institute, India – 2026 survey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Learning &amp; Development Programmes</a:t>
            </a:r>
          </a:p>
        </p:txBody>
      </p:sp>
      <p:sp>
        <p:nvSpPr>
          <p:cNvPr id="53" name="Subtitle 53"/>
          <p:cNvSpPr txBox="1"/>
          <p:nvPr/>
        </p:nvSpPr>
        <p:spPr>
          <a:xfrm>
            <a:off x="713740" y="1075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Calibri"/>
                <a:cs typeface="Calibri"/>
              </a:rPr>
              <a:t>Programme scope, progress to date and digital learning reach (as of September 2026)</a:t>
            </a:r>
          </a:p>
        </p:txBody>
      </p:sp>
      <p:sp>
        <p:nvSpPr>
          <p:cNvPr id="54" name="Card 54"/>
          <p:cNvSpPr/>
          <p:nvPr/>
        </p:nvSpPr>
        <p:spPr>
          <a:xfrm>
            <a:off x="622300" y="1530000"/>
            <a:ext cx="3549550" cy="408000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IconCircle 55"/>
          <p:cNvSpPr/>
          <p:nvPr/>
        </p:nvSpPr>
        <p:spPr>
          <a:xfrm>
            <a:off x="772300" y="1680000"/>
            <a:ext cx="480000" cy="480000"/>
          </a:xfrm>
          <a:prstGeom prst="ellipse">
            <a:avLst/>
          </a:prstGeom>
          <a:solidFill>
            <a:srgbClr val="1E277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6" name="SparX icon 56" descr="SparX icon"/>
          <p:cNvPicPr>
            <a:picLocks noChangeAspect="1"/>
          </p:cNvPicPr>
          <p:nvPr/>
        </p:nvPicPr>
        <p:blipFill>
          <a:blip r:embed="rIdI1"/>
          <a:stretch>
            <a:fillRect/>
          </a:stretch>
        </p:blipFill>
        <p:spPr>
          <a:xfrm>
            <a:off x="882300" y="1790000"/>
            <a:ext cx="260000" cy="260000"/>
          </a:xfrm>
          <a:prstGeom prst="rect">
            <a:avLst/>
          </a:prstGeom>
        </p:spPr>
      </p:pic>
      <p:sp>
        <p:nvSpPr>
          <p:cNvPr id="57" name="CardHead 57"/>
          <p:cNvSpPr txBox="1"/>
          <p:nvPr/>
        </p:nvSpPr>
        <p:spPr>
          <a:xfrm>
            <a:off x="1362300" y="1680000"/>
            <a:ext cx="265955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E2771"/>
                </a:solidFill>
                <a:latin typeface="Calibri"/>
                <a:cs typeface="Calibri"/>
              </a:rPr>
              <a:t>SparX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Fresher talent transformation system</a:t>
            </a:r>
          </a:p>
        </p:txBody>
      </p:sp>
      <p:sp>
        <p:nvSpPr>
          <p:cNvPr id="58" name="MiniStat 58"/>
          <p:cNvSpPr txBox="1"/>
          <p:nvPr/>
        </p:nvSpPr>
        <p:spPr>
          <a:xfrm>
            <a:off x="772300" y="2290000"/>
            <a:ext cx="1083183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E2771"/>
                </a:solidFill>
                <a:latin typeface="Calibri"/>
                <a:cs typeface="Calibri"/>
              </a:rPr>
              <a:t>2,520</a:t>
            </a:r>
          </a:p>
        </p:txBody>
      </p:sp>
      <p:sp>
        <p:nvSpPr>
          <p:cNvPr id="59" name="MiniLabel 59"/>
          <p:cNvSpPr txBox="1"/>
          <p:nvPr/>
        </p:nvSpPr>
        <p:spPr>
          <a:xfrm>
            <a:off x="772300" y="2710000"/>
            <a:ext cx="1083183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man-hours</a:t>
            </a:r>
          </a:p>
        </p:txBody>
      </p:sp>
      <p:sp>
        <p:nvSpPr>
          <p:cNvPr id="60" name="MiniStat 60"/>
          <p:cNvSpPr txBox="1"/>
          <p:nvPr/>
        </p:nvSpPr>
        <p:spPr>
          <a:xfrm>
            <a:off x="1855483" y="2290000"/>
            <a:ext cx="1083183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E2771"/>
                </a:solidFill>
                <a:latin typeface="Calibri"/>
                <a:cs typeface="Calibri"/>
              </a:rPr>
              <a:t>23</a:t>
            </a:r>
          </a:p>
        </p:txBody>
      </p:sp>
      <p:sp>
        <p:nvSpPr>
          <p:cNvPr id="61" name="MiniLabel 61"/>
          <p:cNvSpPr txBox="1"/>
          <p:nvPr/>
        </p:nvSpPr>
        <p:spPr>
          <a:xfrm>
            <a:off x="1855483" y="2710000"/>
            <a:ext cx="1083183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training days</a:t>
            </a:r>
          </a:p>
        </p:txBody>
      </p:sp>
      <p:sp>
        <p:nvSpPr>
          <p:cNvPr id="62" name="MiniStat 62"/>
          <p:cNvSpPr txBox="1"/>
          <p:nvPr/>
        </p:nvSpPr>
        <p:spPr>
          <a:xfrm>
            <a:off x="2938666" y="2290000"/>
            <a:ext cx="1083183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E2771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63" name="MiniLabel 63"/>
          <p:cNvSpPr txBox="1"/>
          <p:nvPr/>
        </p:nvSpPr>
        <p:spPr>
          <a:xfrm>
            <a:off x="2938666" y="2710000"/>
            <a:ext cx="1083183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participants</a:t>
            </a:r>
          </a:p>
        </p:txBody>
      </p:sp>
      <p:sp>
        <p:nvSpPr>
          <p:cNvPr id="64" name="SubHead 64"/>
          <p:cNvSpPr txBox="1"/>
          <p:nvPr/>
        </p:nvSpPr>
        <p:spPr>
          <a:xfrm>
            <a:off x="772300" y="3060000"/>
            <a:ext cx="324955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E2771"/>
                </a:solidFill>
                <a:latin typeface="Calibri"/>
                <a:cs typeface="Calibri"/>
              </a:rPr>
              <a:t>Batch 2 completed on 1 Sep 2026</a:t>
            </a:r>
          </a:p>
        </p:txBody>
      </p:sp>
      <p:sp>
        <p:nvSpPr>
          <p:cNvPr id="65" name="Bullets 65"/>
          <p:cNvSpPr txBox="1"/>
          <p:nvPr/>
        </p:nvSpPr>
        <p:spPr>
          <a:xfrm>
            <a:off x="772300" y="3380000"/>
            <a:ext cx="3249550" cy="2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1E2771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Focus areas: Manufacturing, Quality and Bio Process Development</a:t>
            </a:r>
          </a:p>
          <a:p>
            <a:pPr marL="171450" indent="-171450" algn="l">
              <a:spcAft>
                <a:spcPts val="600"/>
              </a:spcAft>
              <a:buClr>
                <a:srgbClr val="1E2771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Department overviews plus hands-on lab training in pipetting and gowning</a:t>
            </a:r>
          </a:p>
          <a:p>
            <a:pPr marL="171450" indent="-171450" algn="l">
              <a:spcAft>
                <a:spcPts val="600"/>
              </a:spcAft>
              <a:buClr>
                <a:srgbClr val="1E2771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VR-based training and core skills, incl. buffer preparation theory</a:t>
            </a:r>
          </a:p>
          <a:p>
            <a:pPr marL="171450" indent="-171450" algn="l">
              <a:spcAft>
                <a:spcPts val="600"/>
              </a:spcAft>
              <a:buClr>
                <a:srgbClr val="1E2771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Programme design: boot camp, 12-month rotation, soft skills, competency measurement and 30/60/90-day follow-up</a:t>
            </a:r>
          </a:p>
        </p:txBody>
      </p:sp>
      <p:sp>
        <p:nvSpPr>
          <p:cNvPr id="66" name="Card 66"/>
          <p:cNvSpPr/>
          <p:nvPr/>
        </p:nvSpPr>
        <p:spPr>
          <a:xfrm>
            <a:off x="4354730" y="1530000"/>
            <a:ext cx="3549550" cy="408000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IconCircle 67"/>
          <p:cNvSpPr/>
          <p:nvPr/>
        </p:nvSpPr>
        <p:spPr>
          <a:xfrm>
            <a:off x="4504730" y="1680000"/>
            <a:ext cx="480000" cy="480000"/>
          </a:xfrm>
          <a:prstGeom prst="ellipse">
            <a:avLst/>
          </a:prstGeom>
          <a:solidFill>
            <a:srgbClr val="1A60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8" name="Managerial Excellence Program icon 68" descr="Managerial Excellence Program icon"/>
          <p:cNvPicPr>
            <a:picLocks noChangeAspect="1"/>
          </p:cNvPicPr>
          <p:nvPr/>
        </p:nvPicPr>
        <p:blipFill>
          <a:blip r:embed="rIdI2"/>
          <a:stretch>
            <a:fillRect/>
          </a:stretch>
        </p:blipFill>
        <p:spPr>
          <a:xfrm>
            <a:off x="4614730" y="1790000"/>
            <a:ext cx="260000" cy="260000"/>
          </a:xfrm>
          <a:prstGeom prst="rect">
            <a:avLst/>
          </a:prstGeom>
        </p:spPr>
      </p:pic>
      <p:sp>
        <p:nvSpPr>
          <p:cNvPr id="69" name="CardHead 69"/>
          <p:cNvSpPr txBox="1"/>
          <p:nvPr/>
        </p:nvSpPr>
        <p:spPr>
          <a:xfrm>
            <a:off x="5094730" y="1680000"/>
            <a:ext cx="265955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E2771"/>
                </a:solidFill>
                <a:latin typeface="Calibri"/>
                <a:cs typeface="Calibri"/>
              </a:rPr>
              <a:t>Managerial Excellence Program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20 leaders, M4 and above</a:t>
            </a:r>
          </a:p>
        </p:txBody>
      </p:sp>
      <p:sp>
        <p:nvSpPr>
          <p:cNvPr id="70" name="Stat 70"/>
          <p:cNvSpPr txBox="1"/>
          <p:nvPr/>
        </p:nvSpPr>
        <p:spPr>
          <a:xfrm>
            <a:off x="4504730" y="2290000"/>
            <a:ext cx="324955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A60AB"/>
                </a:solidFill>
                <a:latin typeface="Calibri"/>
                <a:cs typeface="Calibri"/>
              </a:rPr>
              <a:t>6 of 11</a:t>
            </a:r>
          </a:p>
        </p:txBody>
      </p:sp>
      <p:sp>
        <p:nvSpPr>
          <p:cNvPr id="71" name="StatLabel 71"/>
          <p:cNvSpPr txBox="1"/>
          <p:nvPr/>
        </p:nvSpPr>
        <p:spPr>
          <a:xfrm>
            <a:off x="4504730" y="2710000"/>
            <a:ext cx="324955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milestones completed  ·  avg. session rating 4.5 / 5</a:t>
            </a:r>
          </a:p>
        </p:txBody>
      </p:sp>
      <p:sp>
        <p:nvSpPr>
          <p:cNvPr id="72" name="ProgressTrack 72"/>
          <p:cNvSpPr/>
          <p:nvPr/>
        </p:nvSpPr>
        <p:spPr>
          <a:xfrm>
            <a:off x="4504730" y="3000000"/>
            <a:ext cx="3249550" cy="700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ProgressFill 73"/>
          <p:cNvSpPr/>
          <p:nvPr/>
        </p:nvSpPr>
        <p:spPr>
          <a:xfrm>
            <a:off x="4504730" y="3000000"/>
            <a:ext cx="1772481" cy="70000"/>
          </a:xfrm>
          <a:prstGeom prst="roundRect">
            <a:avLst>
              <a:gd name="adj" fmla="val 50000"/>
            </a:avLst>
          </a:prstGeom>
          <a:solidFill>
            <a:srgbClr val="1A60A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Milestone 74"/>
          <p:cNvSpPr/>
          <p:nvPr/>
        </p:nvSpPr>
        <p:spPr>
          <a:xfrm>
            <a:off x="4504730" y="3197500"/>
            <a:ext cx="110000" cy="110000"/>
          </a:xfrm>
          <a:prstGeom prst="ellipse">
            <a:avLst/>
          </a:prstGeom>
          <a:solidFill>
            <a:srgbClr val="1A60AB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MilestoneName 75"/>
          <p:cNvSpPr txBox="1"/>
          <p:nvPr/>
        </p:nvSpPr>
        <p:spPr>
          <a:xfrm>
            <a:off x="4704730" y="3160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333333"/>
                </a:solidFill>
                <a:latin typeface="Calibri"/>
                <a:cs typeface="Calibri"/>
              </a:rPr>
              <a:t>Programme study &amp; design</a:t>
            </a:r>
          </a:p>
        </p:txBody>
      </p:sp>
      <p:sp>
        <p:nvSpPr>
          <p:cNvPr id="76" name="MilestoneDate 76"/>
          <p:cNvSpPr txBox="1"/>
          <p:nvPr/>
        </p:nvSpPr>
        <p:spPr>
          <a:xfrm>
            <a:off x="6804280" y="3160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Oct 2025</a:t>
            </a:r>
          </a:p>
        </p:txBody>
      </p:sp>
      <p:sp>
        <p:nvSpPr>
          <p:cNvPr id="77" name="Milestone 77"/>
          <p:cNvSpPr/>
          <p:nvPr/>
        </p:nvSpPr>
        <p:spPr>
          <a:xfrm>
            <a:off x="4504730" y="3412500"/>
            <a:ext cx="110000" cy="110000"/>
          </a:xfrm>
          <a:prstGeom prst="ellipse">
            <a:avLst/>
          </a:prstGeom>
          <a:solidFill>
            <a:srgbClr val="1A60AB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MilestoneName 78"/>
          <p:cNvSpPr txBox="1"/>
          <p:nvPr/>
        </p:nvSpPr>
        <p:spPr>
          <a:xfrm>
            <a:off x="4704730" y="3375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333333"/>
                </a:solidFill>
                <a:latin typeface="Calibri"/>
                <a:cs typeface="Calibri"/>
              </a:rPr>
              <a:t>Self-Leadership</a:t>
            </a:r>
          </a:p>
        </p:txBody>
      </p:sp>
      <p:sp>
        <p:nvSpPr>
          <p:cNvPr id="79" name="MilestoneDate 79"/>
          <p:cNvSpPr txBox="1"/>
          <p:nvPr/>
        </p:nvSpPr>
        <p:spPr>
          <a:xfrm>
            <a:off x="6804280" y="3375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Nov 2025</a:t>
            </a:r>
          </a:p>
        </p:txBody>
      </p:sp>
      <p:sp>
        <p:nvSpPr>
          <p:cNvPr id="80" name="Milestone 80"/>
          <p:cNvSpPr/>
          <p:nvPr/>
        </p:nvSpPr>
        <p:spPr>
          <a:xfrm>
            <a:off x="4504730" y="3627500"/>
            <a:ext cx="110000" cy="110000"/>
          </a:xfrm>
          <a:prstGeom prst="ellipse">
            <a:avLst/>
          </a:prstGeom>
          <a:solidFill>
            <a:srgbClr val="1A60AB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MilestoneName 81"/>
          <p:cNvSpPr txBox="1"/>
          <p:nvPr/>
        </p:nvSpPr>
        <p:spPr>
          <a:xfrm>
            <a:off x="4704730" y="3590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333333"/>
                </a:solidFill>
                <a:latin typeface="Calibri"/>
                <a:cs typeface="Calibri"/>
              </a:rPr>
              <a:t>Refresher session</a:t>
            </a:r>
          </a:p>
        </p:txBody>
      </p:sp>
      <p:sp>
        <p:nvSpPr>
          <p:cNvPr id="82" name="MilestoneDate 82"/>
          <p:cNvSpPr txBox="1"/>
          <p:nvPr/>
        </p:nvSpPr>
        <p:spPr>
          <a:xfrm>
            <a:off x="6804280" y="3590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Aug 2026</a:t>
            </a:r>
          </a:p>
        </p:txBody>
      </p:sp>
      <p:sp>
        <p:nvSpPr>
          <p:cNvPr id="83" name="Milestone 83"/>
          <p:cNvSpPr/>
          <p:nvPr/>
        </p:nvSpPr>
        <p:spPr>
          <a:xfrm>
            <a:off x="4504730" y="3842500"/>
            <a:ext cx="110000" cy="110000"/>
          </a:xfrm>
          <a:prstGeom prst="ellipse">
            <a:avLst/>
          </a:prstGeom>
          <a:solidFill>
            <a:srgbClr val="1A60AB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MilestoneName 84"/>
          <p:cNvSpPr txBox="1"/>
          <p:nvPr/>
        </p:nvSpPr>
        <p:spPr>
          <a:xfrm>
            <a:off x="4704730" y="3805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333333"/>
                </a:solidFill>
                <a:latin typeface="Calibri"/>
                <a:cs typeface="Calibri"/>
              </a:rPr>
              <a:t>Executive Presence</a:t>
            </a:r>
          </a:p>
        </p:txBody>
      </p:sp>
      <p:sp>
        <p:nvSpPr>
          <p:cNvPr id="85" name="MilestoneDate 85"/>
          <p:cNvSpPr txBox="1"/>
          <p:nvPr/>
        </p:nvSpPr>
        <p:spPr>
          <a:xfrm>
            <a:off x="6804280" y="3805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Aug 2026</a:t>
            </a:r>
          </a:p>
        </p:txBody>
      </p:sp>
      <p:sp>
        <p:nvSpPr>
          <p:cNvPr id="86" name="Milestone 86"/>
          <p:cNvSpPr/>
          <p:nvPr/>
        </p:nvSpPr>
        <p:spPr>
          <a:xfrm>
            <a:off x="4504730" y="4057500"/>
            <a:ext cx="110000" cy="110000"/>
          </a:xfrm>
          <a:prstGeom prst="ellipse">
            <a:avLst/>
          </a:prstGeom>
          <a:solidFill>
            <a:srgbClr val="1A60AB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MilestoneName 87"/>
          <p:cNvSpPr txBox="1"/>
          <p:nvPr/>
        </p:nvSpPr>
        <p:spPr>
          <a:xfrm>
            <a:off x="4704730" y="4020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333333"/>
                </a:solidFill>
                <a:latin typeface="Calibri"/>
                <a:cs typeface="Calibri"/>
              </a:rPr>
              <a:t>Developing High Performers</a:t>
            </a:r>
          </a:p>
        </p:txBody>
      </p:sp>
      <p:sp>
        <p:nvSpPr>
          <p:cNvPr id="88" name="MilestoneDate 88"/>
          <p:cNvSpPr txBox="1"/>
          <p:nvPr/>
        </p:nvSpPr>
        <p:spPr>
          <a:xfrm>
            <a:off x="6804280" y="4020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Sep 2026</a:t>
            </a:r>
          </a:p>
        </p:txBody>
      </p:sp>
      <p:sp>
        <p:nvSpPr>
          <p:cNvPr id="89" name="Milestone 89"/>
          <p:cNvSpPr/>
          <p:nvPr/>
        </p:nvSpPr>
        <p:spPr>
          <a:xfrm>
            <a:off x="4504730" y="4272500"/>
            <a:ext cx="110000" cy="110000"/>
          </a:xfrm>
          <a:prstGeom prst="ellipse">
            <a:avLst/>
          </a:prstGeom>
          <a:solidFill>
            <a:srgbClr val="1A60AB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MilestoneName 90"/>
          <p:cNvSpPr txBox="1"/>
          <p:nvPr/>
        </p:nvSpPr>
        <p:spPr>
          <a:xfrm>
            <a:off x="4704730" y="4235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333333"/>
                </a:solidFill>
                <a:latin typeface="Calibri"/>
                <a:cs typeface="Calibri"/>
              </a:rPr>
              <a:t>Cohort Coaching 1</a:t>
            </a:r>
          </a:p>
        </p:txBody>
      </p:sp>
      <p:sp>
        <p:nvSpPr>
          <p:cNvPr id="91" name="MilestoneDate 91"/>
          <p:cNvSpPr txBox="1"/>
          <p:nvPr/>
        </p:nvSpPr>
        <p:spPr>
          <a:xfrm>
            <a:off x="6804280" y="4235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Sep 2026</a:t>
            </a:r>
          </a:p>
        </p:txBody>
      </p:sp>
      <p:sp>
        <p:nvSpPr>
          <p:cNvPr id="92" name="Milestone 92"/>
          <p:cNvSpPr/>
          <p:nvPr/>
        </p:nvSpPr>
        <p:spPr>
          <a:xfrm>
            <a:off x="4504730" y="4487500"/>
            <a:ext cx="110000" cy="11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MilestoneName 93"/>
          <p:cNvSpPr txBox="1"/>
          <p:nvPr/>
        </p:nvSpPr>
        <p:spPr>
          <a:xfrm>
            <a:off x="4704730" y="4450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Winning Together</a:t>
            </a:r>
          </a:p>
        </p:txBody>
      </p:sp>
      <p:sp>
        <p:nvSpPr>
          <p:cNvPr id="94" name="MilestoneDate 94"/>
          <p:cNvSpPr txBox="1"/>
          <p:nvPr/>
        </p:nvSpPr>
        <p:spPr>
          <a:xfrm>
            <a:off x="6804280" y="4450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9 Oct 2026</a:t>
            </a:r>
          </a:p>
        </p:txBody>
      </p:sp>
      <p:sp>
        <p:nvSpPr>
          <p:cNvPr id="95" name="Milestone 95"/>
          <p:cNvSpPr/>
          <p:nvPr/>
        </p:nvSpPr>
        <p:spPr>
          <a:xfrm>
            <a:off x="4504730" y="4702500"/>
            <a:ext cx="110000" cy="11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MilestoneName 96"/>
          <p:cNvSpPr txBox="1"/>
          <p:nvPr/>
        </p:nvSpPr>
        <p:spPr>
          <a:xfrm>
            <a:off x="4704730" y="4665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Influencing without Authority</a:t>
            </a:r>
          </a:p>
        </p:txBody>
      </p:sp>
      <p:sp>
        <p:nvSpPr>
          <p:cNvPr id="97" name="MilestoneDate 97"/>
          <p:cNvSpPr txBox="1"/>
          <p:nvPr/>
        </p:nvSpPr>
        <p:spPr>
          <a:xfrm>
            <a:off x="6804280" y="4665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24 Nov 2026</a:t>
            </a:r>
          </a:p>
        </p:txBody>
      </p:sp>
      <p:sp>
        <p:nvSpPr>
          <p:cNvPr id="98" name="Milestone 98"/>
          <p:cNvSpPr/>
          <p:nvPr/>
        </p:nvSpPr>
        <p:spPr>
          <a:xfrm>
            <a:off x="4504730" y="4917500"/>
            <a:ext cx="110000" cy="11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" name="MilestoneName 99"/>
          <p:cNvSpPr txBox="1"/>
          <p:nvPr/>
        </p:nvSpPr>
        <p:spPr>
          <a:xfrm>
            <a:off x="4704730" y="4880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Conflict Management</a:t>
            </a:r>
          </a:p>
        </p:txBody>
      </p:sp>
      <p:sp>
        <p:nvSpPr>
          <p:cNvPr id="100" name="MilestoneDate 100"/>
          <p:cNvSpPr txBox="1"/>
          <p:nvPr/>
        </p:nvSpPr>
        <p:spPr>
          <a:xfrm>
            <a:off x="6804280" y="4880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9 Dec 2026</a:t>
            </a:r>
          </a:p>
        </p:txBody>
      </p:sp>
      <p:sp>
        <p:nvSpPr>
          <p:cNvPr id="101" name="Milestone 101"/>
          <p:cNvSpPr/>
          <p:nvPr/>
        </p:nvSpPr>
        <p:spPr>
          <a:xfrm>
            <a:off x="4504730" y="5132500"/>
            <a:ext cx="110000" cy="11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MilestoneName 102"/>
          <p:cNvSpPr txBox="1"/>
          <p:nvPr/>
        </p:nvSpPr>
        <p:spPr>
          <a:xfrm>
            <a:off x="4704730" y="5095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Cohort Coaching 2</a:t>
            </a:r>
          </a:p>
        </p:txBody>
      </p:sp>
      <p:sp>
        <p:nvSpPr>
          <p:cNvPr id="103" name="MilestoneDate 103"/>
          <p:cNvSpPr txBox="1"/>
          <p:nvPr/>
        </p:nvSpPr>
        <p:spPr>
          <a:xfrm>
            <a:off x="6804280" y="5095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4 Jan 2027</a:t>
            </a:r>
          </a:p>
        </p:txBody>
      </p:sp>
      <p:sp>
        <p:nvSpPr>
          <p:cNvPr id="104" name="Milestone 104"/>
          <p:cNvSpPr/>
          <p:nvPr/>
        </p:nvSpPr>
        <p:spPr>
          <a:xfrm>
            <a:off x="4504730" y="5347500"/>
            <a:ext cx="110000" cy="11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60A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MilestoneName 105"/>
          <p:cNvSpPr txBox="1"/>
          <p:nvPr/>
        </p:nvSpPr>
        <p:spPr>
          <a:xfrm>
            <a:off x="4704730" y="5310000"/>
            <a:ext cx="209955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Final review &amp; closure</a:t>
            </a:r>
          </a:p>
        </p:txBody>
      </p:sp>
      <p:sp>
        <p:nvSpPr>
          <p:cNvPr id="106" name="MilestoneDate 106"/>
          <p:cNvSpPr txBox="1"/>
          <p:nvPr/>
        </p:nvSpPr>
        <p:spPr>
          <a:xfrm>
            <a:off x="6804280" y="5310000"/>
            <a:ext cx="950000" cy="21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28 Jan 2027</a:t>
            </a:r>
          </a:p>
        </p:txBody>
      </p:sp>
      <p:sp>
        <p:nvSpPr>
          <p:cNvPr id="107" name="Card 107"/>
          <p:cNvSpPr/>
          <p:nvPr/>
        </p:nvSpPr>
        <p:spPr>
          <a:xfrm>
            <a:off x="8087160" y="1530000"/>
            <a:ext cx="3549550" cy="408000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>
            <a:noFill/>
          </a:ln>
          <a:effectLst>
            <a:outerShdw blurRad="76200" dist="19050" dir="5400000" algn="t" rotWithShape="0">
              <a:srgbClr val="1E277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IconCircle 108"/>
          <p:cNvSpPr/>
          <p:nvPr/>
        </p:nvSpPr>
        <p:spPr>
          <a:xfrm>
            <a:off x="8237160" y="1680000"/>
            <a:ext cx="480000" cy="480000"/>
          </a:xfrm>
          <a:prstGeom prst="ellipse">
            <a:avLst/>
          </a:prstGeom>
          <a:solidFill>
            <a:srgbClr val="03B5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9" name="LearnX LMS icon 109" descr="LearnX LMS icon"/>
          <p:cNvPicPr>
            <a:picLocks noChangeAspect="1"/>
          </p:cNvPicPr>
          <p:nvPr/>
        </p:nvPicPr>
        <p:blipFill>
          <a:blip r:embed="rIdI3"/>
          <a:stretch>
            <a:fillRect/>
          </a:stretch>
        </p:blipFill>
        <p:spPr>
          <a:xfrm>
            <a:off x="8347160" y="1790000"/>
            <a:ext cx="260000" cy="260000"/>
          </a:xfrm>
          <a:prstGeom prst="rect">
            <a:avLst/>
          </a:prstGeom>
        </p:spPr>
      </p:pic>
      <p:sp>
        <p:nvSpPr>
          <p:cNvPr id="110" name="CardHead 110"/>
          <p:cNvSpPr txBox="1"/>
          <p:nvPr/>
        </p:nvSpPr>
        <p:spPr>
          <a:xfrm>
            <a:off x="8827160" y="1680000"/>
            <a:ext cx="2659550" cy="4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E2771"/>
                </a:solidFill>
                <a:latin typeface="Calibri"/>
                <a:cs typeface="Calibri"/>
              </a:rPr>
              <a:t>LearnX LMS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Launched 26 Aug 2026</a:t>
            </a:r>
          </a:p>
        </p:txBody>
      </p:sp>
      <p:sp>
        <p:nvSpPr>
          <p:cNvPr id="111" name="Stat 111"/>
          <p:cNvSpPr txBox="1"/>
          <p:nvPr/>
        </p:nvSpPr>
        <p:spPr>
          <a:xfrm>
            <a:off x="8237160" y="2290000"/>
            <a:ext cx="324955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393BB"/>
                </a:solidFill>
                <a:latin typeface="Calibri"/>
                <a:cs typeface="Calibri"/>
              </a:rPr>
              <a:t>500+</a:t>
            </a:r>
          </a:p>
        </p:txBody>
      </p:sp>
      <p:sp>
        <p:nvSpPr>
          <p:cNvPr id="112" name="StatLabel 112"/>
          <p:cNvSpPr txBox="1"/>
          <p:nvPr/>
        </p:nvSpPr>
        <p:spPr>
          <a:xfrm>
            <a:off x="8237160" y="2710000"/>
            <a:ext cx="324955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employees have used LearnX (Enzene India &amp; Inc.)</a:t>
            </a:r>
          </a:p>
        </p:txBody>
      </p:sp>
      <p:sp>
        <p:nvSpPr>
          <p:cNvPr id="113" name="SubHead 113"/>
          <p:cNvSpPr txBox="1"/>
          <p:nvPr/>
        </p:nvSpPr>
        <p:spPr>
          <a:xfrm>
            <a:off x="8237160" y="3060000"/>
            <a:ext cx="324955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E2771"/>
                </a:solidFill>
                <a:latin typeface="Calibri"/>
                <a:cs typeface="Calibri"/>
              </a:rPr>
              <a:t>Content library</a:t>
            </a:r>
          </a:p>
        </p:txBody>
      </p:sp>
      <p:sp>
        <p:nvSpPr>
          <p:cNvPr id="114" name="Pill 114"/>
          <p:cNvSpPr/>
          <p:nvPr/>
        </p:nvSpPr>
        <p:spPr>
          <a:xfrm>
            <a:off x="8237160" y="3360000"/>
            <a:ext cx="1574775" cy="36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D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PillText 115"/>
          <p:cNvSpPr txBox="1"/>
          <p:nvPr/>
        </p:nvSpPr>
        <p:spPr>
          <a:xfrm>
            <a:off x="8317160" y="3360000"/>
            <a:ext cx="1414775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771"/>
                </a:solidFill>
                <a:latin typeface="Calibri"/>
                <a:cs typeface="Calibri"/>
              </a:rPr>
              <a:t>Leading Self &amp; Others</a:t>
            </a:r>
          </a:p>
        </p:txBody>
      </p:sp>
      <p:sp>
        <p:nvSpPr>
          <p:cNvPr id="116" name="Pill 116"/>
          <p:cNvSpPr/>
          <p:nvPr/>
        </p:nvSpPr>
        <p:spPr>
          <a:xfrm>
            <a:off x="9911935" y="3360000"/>
            <a:ext cx="1574775" cy="36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D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PillText 117"/>
          <p:cNvSpPr txBox="1"/>
          <p:nvPr/>
        </p:nvSpPr>
        <p:spPr>
          <a:xfrm>
            <a:off x="9991935" y="3360000"/>
            <a:ext cx="1414775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771"/>
                </a:solidFill>
                <a:latin typeface="Calibri"/>
                <a:cs typeface="Calibri"/>
              </a:rPr>
              <a:t>Communication &amp; Effectiveness</a:t>
            </a:r>
          </a:p>
        </p:txBody>
      </p:sp>
      <p:sp>
        <p:nvSpPr>
          <p:cNvPr id="118" name="Pill 118"/>
          <p:cNvSpPr/>
          <p:nvPr/>
        </p:nvSpPr>
        <p:spPr>
          <a:xfrm>
            <a:off x="8237160" y="3810000"/>
            <a:ext cx="1574775" cy="36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D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PillText 119"/>
          <p:cNvSpPr txBox="1"/>
          <p:nvPr/>
        </p:nvSpPr>
        <p:spPr>
          <a:xfrm>
            <a:off x="8317160" y="3810000"/>
            <a:ext cx="1414775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771"/>
                </a:solidFill>
                <a:latin typeface="Calibri"/>
                <a:cs typeface="Calibri"/>
              </a:rPr>
              <a:t>Digital &amp; AI</a:t>
            </a:r>
          </a:p>
        </p:txBody>
      </p:sp>
      <p:sp>
        <p:nvSpPr>
          <p:cNvPr id="120" name="Pill 120"/>
          <p:cNvSpPr/>
          <p:nvPr/>
        </p:nvSpPr>
        <p:spPr>
          <a:xfrm>
            <a:off x="9911935" y="3810000"/>
            <a:ext cx="1574775" cy="36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9FD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PillText 121"/>
          <p:cNvSpPr txBox="1"/>
          <p:nvPr/>
        </p:nvSpPr>
        <p:spPr>
          <a:xfrm>
            <a:off x="9991935" y="3810000"/>
            <a:ext cx="1414775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771"/>
                </a:solidFill>
                <a:latin typeface="Calibri"/>
                <a:cs typeface="Calibri"/>
              </a:rPr>
              <a:t>Technical Skills</a:t>
            </a:r>
          </a:p>
        </p:txBody>
      </p:sp>
      <p:sp>
        <p:nvSpPr>
          <p:cNvPr id="122" name="SubHead 122"/>
          <p:cNvSpPr txBox="1"/>
          <p:nvPr/>
        </p:nvSpPr>
        <p:spPr>
          <a:xfrm>
            <a:off x="8237160" y="4290000"/>
            <a:ext cx="324955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E2771"/>
                </a:solidFill>
                <a:latin typeface="Calibri"/>
                <a:cs typeface="Calibri"/>
              </a:rPr>
              <a:t>How it is used</a:t>
            </a:r>
          </a:p>
        </p:txBody>
      </p:sp>
      <p:sp>
        <p:nvSpPr>
          <p:cNvPr id="123" name="Bullets 123"/>
          <p:cNvSpPr txBox="1"/>
          <p:nvPr/>
        </p:nvSpPr>
        <p:spPr>
          <a:xfrm>
            <a:off x="8237160" y="4590000"/>
            <a:ext cx="3249550" cy="8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Aft>
                <a:spcPts val="200"/>
              </a:spcAft>
              <a:buClr>
                <a:srgbClr val="03B5E5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SparX pre-work and refreshers</a:t>
            </a:r>
          </a:p>
          <a:p>
            <a:pPr marL="171450" indent="-171450" algn="l">
              <a:spcAft>
                <a:spcPts val="200"/>
              </a:spcAft>
              <a:buClr>
                <a:srgbClr val="03B5E5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Role-based learning paths</a:t>
            </a:r>
          </a:p>
          <a:p>
            <a:pPr marL="171450" indent="-171450" algn="l">
              <a:spcAft>
                <a:spcPts val="200"/>
              </a:spcAft>
              <a:buClr>
                <a:srgbClr val="03B5E5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Completion reports and leaderboard</a:t>
            </a:r>
          </a:p>
          <a:p>
            <a:pPr marL="171450" indent="-171450" algn="l">
              <a:spcAft>
                <a:spcPts val="200"/>
              </a:spcAft>
              <a:buClr>
                <a:srgbClr val="03B5E5"/>
              </a:buClr>
              <a:buFont typeface="Arial"/>
              <a:buChar char="•"/>
            </a:pPr>
            <a:r>
              <a:rPr lang="en-US" sz="1200" b="0" i="0" dirty="0">
                <a:solidFill>
                  <a:srgbClr val="333333"/>
                </a:solidFill>
                <a:latin typeface="Calibri"/>
                <a:cs typeface="Calibri"/>
              </a:rPr>
              <a:t>Refreshed interface from Oct 2026</a:t>
            </a:r>
          </a:p>
        </p:txBody>
      </p:sp>
      <p:sp>
        <p:nvSpPr>
          <p:cNvPr id="124" name="Source 124"/>
          <p:cNvSpPr txBox="1"/>
          <p:nvPr/>
        </p:nvSpPr>
        <p:spPr>
          <a:xfrm>
            <a:off x="2372300" y="5720000"/>
            <a:ext cx="8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7F7F7F"/>
                </a:solidFill>
                <a:latin typeface="Calibri"/>
                <a:cs typeface="Calibri"/>
              </a:rPr>
              <a:t>Source: Learning Data – Monthly Closing Deck (Sep 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Dandiya Night 2025</a:t>
            </a:r>
          </a:p>
        </p:txBody>
      </p:sp>
      <p:sp>
        <p:nvSpPr>
          <p:cNvPr id="207" name="Subtitle 207"/>
          <p:cNvSpPr txBox="1"/>
          <p:nvPr/>
        </p:nvSpPr>
        <p:spPr>
          <a:xfrm>
            <a:off x="713740" y="1075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Calibri"/>
                <a:cs typeface="Calibri"/>
              </a:rPr>
              <a:t>Colleagues came together to celebrate Navratri with music, dance and festive colour</a:t>
            </a:r>
          </a:p>
        </p:txBody>
      </p:sp>
      <p:pic>
        <p:nvPicPr>
          <p:cNvPr id="201" name="Photo 201" descr="Colleagues dancing under the festive canopy at Dandiya Night 2025"/>
          <p:cNvPicPr>
            <a:picLocks noChangeAspect="1"/>
          </p:cNvPicPr>
          <p:nvPr/>
        </p:nvPicPr>
        <p:blipFill>
          <a:blip r:embed="rIdP1"/>
          <a:srcRect l="5291" t="0" r="5291" b="0"/>
          <a:stretch>
            <a:fillRect/>
          </a:stretch>
        </p:blipFill>
        <p:spPr>
          <a:xfrm>
            <a:off x="622300" y="1530000"/>
            <a:ext cx="5473700" cy="408000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02" name="Photo 202" descr="Group of colleagues in festive outfits at the decorated entrance"/>
          <p:cNvPicPr>
            <a:picLocks noChangeAspect="1"/>
          </p:cNvPicPr>
          <p:nvPr/>
        </p:nvPicPr>
        <p:blipFill>
          <a:blip r:embed="rIdP2"/>
          <a:srcRect l="6325" t="0" r="6325" b="0"/>
          <a:stretch>
            <a:fillRect/>
          </a:stretch>
        </p:blipFill>
        <p:spPr>
          <a:xfrm>
            <a:off x="6278880" y="1530000"/>
            <a:ext cx="2553970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03" name="Photo 203" descr="Colleagues dancing with dandiya sticks on stage"/>
          <p:cNvPicPr>
            <a:picLocks noChangeAspect="1"/>
          </p:cNvPicPr>
          <p:nvPr/>
        </p:nvPicPr>
        <p:blipFill>
          <a:blip r:embed="rIdP3"/>
          <a:srcRect l="6325" t="0" r="6325" b="0"/>
          <a:stretch>
            <a:fillRect/>
          </a:stretch>
        </p:blipFill>
        <p:spPr>
          <a:xfrm>
            <a:off x="9015730" y="1530000"/>
            <a:ext cx="2553970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04" name="Photo 204" descr="Colleagues dancing in front of the Dandiya Night 2025 backdrop"/>
          <p:cNvPicPr>
            <a:picLocks noChangeAspect="1"/>
          </p:cNvPicPr>
          <p:nvPr/>
        </p:nvPicPr>
        <p:blipFill>
          <a:blip r:embed="rIdP4"/>
          <a:srcRect l="6981" t="0" r="6981" b="0"/>
          <a:stretch>
            <a:fillRect/>
          </a:stretch>
        </p:blipFill>
        <p:spPr>
          <a:xfrm>
            <a:off x="6278880" y="3661440"/>
            <a:ext cx="2553970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05" name="Photo 205" descr="Colleagues in traditional wear holding dandiya sticks"/>
          <p:cNvPicPr>
            <a:picLocks noChangeAspect="1"/>
          </p:cNvPicPr>
          <p:nvPr/>
        </p:nvPicPr>
        <p:blipFill>
          <a:blip r:embed="rIdP5"/>
          <a:srcRect l="6325" t="0" r="6325" b="0"/>
          <a:stretch>
            <a:fillRect/>
          </a:stretch>
        </p:blipFill>
        <p:spPr>
          <a:xfrm>
            <a:off x="9015730" y="3661440"/>
            <a:ext cx="2553970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sp>
        <p:nvSpPr>
          <p:cNvPr id="206" name="Caption chip 206"/>
          <p:cNvSpPr/>
          <p:nvPr/>
        </p:nvSpPr>
        <p:spPr>
          <a:xfrm>
            <a:off x="772300" y="5130000"/>
            <a:ext cx="1338000" cy="330000"/>
          </a:xfrm>
          <a:prstGeom prst="roundRect">
            <a:avLst>
              <a:gd name="adj" fmla="val 50000"/>
            </a:avLst>
          </a:prstGeom>
          <a:solidFill>
            <a:srgbClr val="1E2771">
              <a:alpha val="90000"/>
            </a:srgbClr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Life at Enzene</a:t>
            </a:r>
          </a:p>
        </p:txBody>
      </p:sp>
      <p:sp>
        <p:nvSpPr>
          <p:cNvPr id="208" name="Source 208"/>
          <p:cNvSpPr txBox="1"/>
          <p:nvPr/>
        </p:nvSpPr>
        <p:spPr>
          <a:xfrm>
            <a:off x="2372300" y="5720000"/>
            <a:ext cx="8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7F7F7F"/>
                </a:solidFill>
                <a:latin typeface="Calibri"/>
                <a:cs typeface="Calibri"/>
              </a:rPr>
              <a:t>Photos: Enzene Celebrations – Dandiya Night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Potluck &amp; Reflections 2025</a:t>
            </a:r>
          </a:p>
        </p:txBody>
      </p:sp>
      <p:sp>
        <p:nvSpPr>
          <p:cNvPr id="215" name="Subtitle 215"/>
          <p:cNvSpPr txBox="1"/>
          <p:nvPr/>
        </p:nvSpPr>
        <p:spPr>
          <a:xfrm>
            <a:off x="713740" y="1075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Calibri"/>
                <a:cs typeface="Calibri"/>
              </a:rPr>
              <a:t>Teams set up food stalls, shared home-cooked dishes and celebrated together</a:t>
            </a:r>
          </a:p>
        </p:txBody>
      </p:sp>
      <p:pic>
        <p:nvPicPr>
          <p:cNvPr id="209" name="Photo 209" descr="Colleagues smiling behind their potluck food stall"/>
          <p:cNvPicPr>
            <a:picLocks noChangeAspect="1"/>
          </p:cNvPicPr>
          <p:nvPr/>
        </p:nvPicPr>
        <p:blipFill>
          <a:blip r:embed="rIdP1"/>
          <a:srcRect l="5459" t="0" r="5459" b="0"/>
          <a:stretch>
            <a:fillRect/>
          </a:stretch>
        </p:blipFill>
        <p:spPr>
          <a:xfrm>
            <a:off x="6096000" y="1530000"/>
            <a:ext cx="5473700" cy="408000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10" name="Photo 210" descr="Team in Enzene polos at their food stall"/>
          <p:cNvPicPr>
            <a:picLocks noChangeAspect="1"/>
          </p:cNvPicPr>
          <p:nvPr/>
        </p:nvPicPr>
        <p:blipFill>
          <a:blip r:embed="rIdP2"/>
          <a:srcRect l="6419" t="0" r="6419" b="0"/>
          <a:stretch>
            <a:fillRect/>
          </a:stretch>
        </p:blipFill>
        <p:spPr>
          <a:xfrm>
            <a:off x="622300" y="1530000"/>
            <a:ext cx="2553970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11" name="Photo 211" descr="Colleagues sharing food at a potluck stall"/>
          <p:cNvPicPr>
            <a:picLocks noChangeAspect="1"/>
          </p:cNvPicPr>
          <p:nvPr/>
        </p:nvPicPr>
        <p:blipFill>
          <a:blip r:embed="rIdP3"/>
          <a:srcRect l="2955" t="0" r="2955" b="0"/>
          <a:stretch>
            <a:fillRect/>
          </a:stretch>
        </p:blipFill>
        <p:spPr>
          <a:xfrm>
            <a:off x="3359150" y="1530000"/>
            <a:ext cx="2553970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12" name="Photo 212" descr="Two colleagues in aprons posing together at the potluck"/>
          <p:cNvPicPr>
            <a:picLocks noChangeAspect="1"/>
          </p:cNvPicPr>
          <p:nvPr/>
        </p:nvPicPr>
        <p:blipFill>
          <a:blip r:embed="rIdP4"/>
          <a:srcRect l="3048" t="0" r="3048" b="0"/>
          <a:stretch>
            <a:fillRect/>
          </a:stretch>
        </p:blipFill>
        <p:spPr>
          <a:xfrm>
            <a:off x="622300" y="3661440"/>
            <a:ext cx="2553970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13" name="Photo 213" descr="Platter of sandwiches served at the potluck"/>
          <p:cNvPicPr>
            <a:picLocks noChangeAspect="1"/>
          </p:cNvPicPr>
          <p:nvPr/>
        </p:nvPicPr>
        <p:blipFill>
          <a:blip r:embed="rIdP5"/>
          <a:srcRect l="11334" t="0" r="11334" b="0"/>
          <a:stretch>
            <a:fillRect/>
          </a:stretch>
        </p:blipFill>
        <p:spPr>
          <a:xfrm>
            <a:off x="3359150" y="3661440"/>
            <a:ext cx="2553970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sp>
        <p:nvSpPr>
          <p:cNvPr id="214" name="Caption chip 214"/>
          <p:cNvSpPr/>
          <p:nvPr/>
        </p:nvSpPr>
        <p:spPr>
          <a:xfrm>
            <a:off x="6246000" y="5130000"/>
            <a:ext cx="1338000" cy="330000"/>
          </a:xfrm>
          <a:prstGeom prst="roundRect">
            <a:avLst>
              <a:gd name="adj" fmla="val 50000"/>
            </a:avLst>
          </a:prstGeom>
          <a:solidFill>
            <a:srgbClr val="1E2771">
              <a:alpha val="90000"/>
            </a:srgbClr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Life at Enzene</a:t>
            </a:r>
          </a:p>
        </p:txBody>
      </p:sp>
      <p:sp>
        <p:nvSpPr>
          <p:cNvPr id="216" name="Source 216"/>
          <p:cNvSpPr txBox="1"/>
          <p:nvPr/>
        </p:nvSpPr>
        <p:spPr>
          <a:xfrm>
            <a:off x="2372300" y="5720000"/>
            <a:ext cx="8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7F7F7F"/>
                </a:solidFill>
                <a:latin typeface="Calibri"/>
                <a:cs typeface="Calibri"/>
              </a:rPr>
              <a:t>Photos: Enzene Celebrations – Potluck and Reflections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Annual Awards Night 2026</a:t>
            </a:r>
          </a:p>
        </p:txBody>
      </p:sp>
      <p:sp>
        <p:nvSpPr>
          <p:cNvPr id="224" name="Subtitle 224"/>
          <p:cNvSpPr txBox="1"/>
          <p:nvPr/>
        </p:nvSpPr>
        <p:spPr>
          <a:xfrm>
            <a:off x="713740" y="1075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Calibri"/>
                <a:cs typeface="Calibri"/>
              </a:rPr>
              <a:t>Recognising outstanding contributions at the Annual Awards Night &amp; Talent Show, 31 July 2026</a:t>
            </a:r>
          </a:p>
        </p:txBody>
      </p:sp>
      <p:pic>
        <p:nvPicPr>
          <p:cNvPr id="217" name="Photo 217" descr="Leaders lighting the ceremonial lamp to open the Annual Awards Night"/>
          <p:cNvPicPr>
            <a:picLocks noChangeAspect="1"/>
          </p:cNvPicPr>
          <p:nvPr/>
        </p:nvPicPr>
        <p:blipFill>
          <a:blip r:embed="rIdP1"/>
          <a:srcRect l="0" t="7397" r="0" b="13739"/>
          <a:stretch>
            <a:fillRect/>
          </a:stretch>
        </p:blipFill>
        <p:spPr>
          <a:xfrm>
            <a:off x="622300" y="1530000"/>
            <a:ext cx="3527213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18" name="Photo 218" descr="Award being presented on stage"/>
          <p:cNvPicPr>
            <a:picLocks noChangeAspect="1"/>
          </p:cNvPicPr>
          <p:nvPr/>
        </p:nvPicPr>
        <p:blipFill>
          <a:blip r:embed="rIdP2"/>
          <a:srcRect l="0" t="5672" r="0" b="10534"/>
          <a:stretch>
            <a:fillRect/>
          </a:stretch>
        </p:blipFill>
        <p:spPr>
          <a:xfrm>
            <a:off x="4332393" y="1530000"/>
            <a:ext cx="3527213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19" name="Photo 219" descr="Winner raising the One Enzene Award trophy"/>
          <p:cNvPicPr>
            <a:picLocks noChangeAspect="1"/>
          </p:cNvPicPr>
          <p:nvPr/>
        </p:nvPicPr>
        <p:blipFill>
          <a:blip r:embed="rIdP3"/>
          <a:srcRect l="0" t="7179" r="0" b="13333"/>
          <a:stretch>
            <a:fillRect/>
          </a:stretch>
        </p:blipFill>
        <p:spPr>
          <a:xfrm>
            <a:off x="8042486" y="1530000"/>
            <a:ext cx="3527213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20" name="Photo 220" descr="Colleagues on the red carpet at the awards backdrop"/>
          <p:cNvPicPr>
            <a:picLocks noChangeAspect="1"/>
          </p:cNvPicPr>
          <p:nvPr/>
        </p:nvPicPr>
        <p:blipFill>
          <a:blip r:embed="rIdP4"/>
          <a:srcRect l="0" t="7794" r="0" b="14476"/>
          <a:stretch>
            <a:fillRect/>
          </a:stretch>
        </p:blipFill>
        <p:spPr>
          <a:xfrm>
            <a:off x="622300" y="3661440"/>
            <a:ext cx="3527213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21" name="Photo 221" descr="Colleagues at the Annual Awards Night welcome arch"/>
          <p:cNvPicPr>
            <a:picLocks noChangeAspect="1"/>
          </p:cNvPicPr>
          <p:nvPr/>
        </p:nvPicPr>
        <p:blipFill>
          <a:blip r:embed="rIdP5"/>
          <a:srcRect l="0" t="5986" r="0" b="11118"/>
          <a:stretch>
            <a:fillRect/>
          </a:stretch>
        </p:blipFill>
        <p:spPr>
          <a:xfrm>
            <a:off x="4332393" y="3661440"/>
            <a:ext cx="3527213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pic>
        <p:nvPicPr>
          <p:cNvPr id="222" name="Photo 222" descr="Colleagues performing at the talent show"/>
          <p:cNvPicPr>
            <a:picLocks noChangeAspect="1"/>
          </p:cNvPicPr>
          <p:nvPr/>
        </p:nvPicPr>
        <p:blipFill>
          <a:blip r:embed="rIdP6"/>
          <a:srcRect l="0" t="5986" r="0" b="11118"/>
          <a:stretch>
            <a:fillRect/>
          </a:stretch>
        </p:blipFill>
        <p:spPr>
          <a:xfrm>
            <a:off x="8042486" y="3661440"/>
            <a:ext cx="3527213" cy="1948560"/>
          </a:xfrm>
          <a:prstGeom prst="roundRect">
            <a:avLst>
              <a:gd name="adj" fmla="val 4000"/>
            </a:avLst>
          </a:prstGeom>
          <a:ln w="9525">
            <a:solidFill>
              <a:srgbClr val="D9E2EC"/>
            </a:solidFill>
          </a:ln>
          <a:effectLst>
            <a:outerShdw blurRad="76200" dist="19050" dir="5400000" algn="t" rotWithShape="0">
              <a:srgbClr val="1E2771">
                <a:alpha val="22000"/>
              </a:srgbClr>
            </a:outerShdw>
          </a:effectLst>
        </p:spPr>
      </p:pic>
      <p:sp>
        <p:nvSpPr>
          <p:cNvPr id="223" name="Caption chip 223"/>
          <p:cNvSpPr/>
          <p:nvPr/>
        </p:nvSpPr>
        <p:spPr>
          <a:xfrm>
            <a:off x="772300" y="2998560"/>
            <a:ext cx="1338000" cy="330000"/>
          </a:xfrm>
          <a:prstGeom prst="roundRect">
            <a:avLst>
              <a:gd name="adj" fmla="val 50000"/>
            </a:avLst>
          </a:prstGeom>
          <a:solidFill>
            <a:srgbClr val="1E2771">
              <a:alpha val="90000"/>
            </a:srgbClr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Life at Enzene</a:t>
            </a:r>
          </a:p>
        </p:txBody>
      </p:sp>
      <p:sp>
        <p:nvSpPr>
          <p:cNvPr id="225" name="Source 225"/>
          <p:cNvSpPr txBox="1"/>
          <p:nvPr/>
        </p:nvSpPr>
        <p:spPr>
          <a:xfrm>
            <a:off x="2372300" y="5720000"/>
            <a:ext cx="8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7F7F7F"/>
                </a:solidFill>
                <a:latin typeface="Calibri"/>
                <a:cs typeface="Calibri"/>
              </a:rPr>
              <a:t>Photos: Enzene Annual Awards Night &amp; Talent Show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Office Theme">
  <a:themeElements>
    <a:clrScheme name="Enzene Master Palette">
      <a:dk1>
        <a:srgbClr val="000000"/>
      </a:dk1>
      <a:lt1>
        <a:srgbClr val="FFFFFF"/>
      </a:lt1>
      <a:dk2>
        <a:srgbClr val="6D6D6D"/>
      </a:dk2>
      <a:lt2>
        <a:srgbClr val="E8E8E8"/>
      </a:lt2>
      <a:accent1>
        <a:srgbClr val="1E2771"/>
      </a:accent1>
      <a:accent2>
        <a:srgbClr val="1A60AB"/>
      </a:accent2>
      <a:accent3>
        <a:srgbClr val="03B5E5"/>
      </a:accent3>
      <a:accent4>
        <a:srgbClr val="F57833"/>
      </a:accent4>
      <a:accent5>
        <a:srgbClr val="F0F0F0"/>
      </a:accent5>
      <a:accent6>
        <a:srgbClr val="919191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4BB21EAB3F8E4B8578E302D7C6EE3B" ma:contentTypeVersion="15" ma:contentTypeDescription="Create a new document." ma:contentTypeScope="" ma:versionID="6dc8460e156d8b0f667390cb68543171">
  <xsd:schema xmlns:xsd="http://www.w3.org/2001/XMLSchema" xmlns:xs="http://www.w3.org/2001/XMLSchema" xmlns:p="http://schemas.microsoft.com/office/2006/metadata/properties" xmlns:ns2="72c74b55-87f3-480e-8e64-f2029f5ef89c" xmlns:ns3="416fdee0-9a7c-45c9-9a04-7fa84296e144" targetNamespace="http://schemas.microsoft.com/office/2006/metadata/properties" ma:root="true" ma:fieldsID="22aa5db22e6e7887ce2ddab9d57f779c" ns2:_="" ns3:_="">
    <xsd:import namespace="72c74b55-87f3-480e-8e64-f2029f5ef89c"/>
    <xsd:import namespace="416fdee0-9a7c-45c9-9a04-7fa84296e14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c74b55-87f3-480e-8e64-f2029f5ef89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cd801296-10ac-45f9-9008-6a838bff47ff}" ma:internalName="TaxCatchAll" ma:showField="CatchAllData" ma:web="72c74b55-87f3-480e-8e64-f2029f5ef8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fdee0-9a7c-45c9-9a04-7fa84296e1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34196b7-2395-4ad1-ab3d-f891ab9797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c74b55-87f3-480e-8e64-f2029f5ef89c" xsi:nil="true"/>
    <lcf76f155ced4ddcb4097134ff3c332f xmlns="416fdee0-9a7c-45c9-9a04-7fa84296e1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60284F1-441D-413D-9221-7843EBF8A9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010AB5-5624-45DC-8C81-34C35C87EC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c74b55-87f3-480e-8e64-f2029f5ef89c"/>
    <ds:schemaRef ds:uri="416fdee0-9a7c-45c9-9a04-7fa84296e1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CF7E2A-0897-4C9C-92D9-A40136116A24}">
  <ds:schemaRefs>
    <ds:schemaRef ds:uri="http://schemas.microsoft.com/office/2006/documentManagement/types"/>
    <ds:schemaRef ds:uri="416fdee0-9a7c-45c9-9a04-7fa84296e144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2c74b55-87f3-480e-8e64-f2029f5ef89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10349</TotalTime>
  <Words>1025</Words>
  <Application>Microsoft Office PowerPoint</Application>
  <PresentationFormat>Widescreen</PresentationFormat>
  <Paragraphs>287</Paragraphs>
  <Slides>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Segoe UI</vt:lpstr>
      <vt:lpstr>Tahoma</vt:lpstr>
      <vt:lpstr>Times New Roman</vt:lpstr>
      <vt:lpstr>Verdana</vt:lpstr>
      <vt:lpstr>Wingdings</vt:lpstr>
      <vt:lpstr>Office Theme</vt:lpstr>
      <vt:lpstr>1_Office Theme</vt:lpstr>
      <vt:lpstr>2_Office Theme</vt:lpstr>
      <vt:lpstr>think-cell Slide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&amp; Learning Overview – Audit Team</dc:title>
  <dc:creator>Enzene Biosciences Ltd.</dc:creator>
  <cp:lastModifiedBy>Enzene Biosciences Ltd.</cp:lastModifiedBy>
  <cp:revision>244</cp:revision>
  <dcterms:created xsi:type="dcterms:W3CDTF">2024-01-04T14:33:04Z</dcterms:created>
  <dcterms:modified xsi:type="dcterms:W3CDTF">2026-10-07T13:48:54Z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0x010100D44BB21EAB3F8E4B8578E302D7C6EE3B</vt:lpwstr>
  </property>
</Properties>
</file>